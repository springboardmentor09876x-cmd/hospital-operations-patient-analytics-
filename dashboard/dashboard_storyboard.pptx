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E2EDFD"/>
    <a:srgbClr val="CDE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8DB2-1B90-5E9C-DD49-455404CBD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3B64E-E43E-944B-8425-B4E2601B3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14C77-4158-11E5-E49C-23C86D7C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1CEE-D4DC-F807-638E-4EC789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15961-A005-17BE-F51D-DCDE68F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7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E3D8-2C5F-1436-4A28-C70AEDBA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F22A-F928-48CF-238A-FFC1EC98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9D5FD-A21C-0E0B-EDB8-2C334872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C10AF-4880-B2A4-6687-7DD8E1DF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C004-18F8-F0BA-5385-6EDC86DA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99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7E54-F08A-5802-55D0-AB8454E6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3A245-87AE-82F3-31A1-593F4DAE9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6705-52C2-8871-C1C5-3121DAED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6CBFE-3B8B-00F8-79D9-E352DAE5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EE26-2639-762B-5F6D-0B3BEEB7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17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D850-6590-C9F0-AA76-37D1117B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0707-7A6C-3931-8587-EA3E3BE49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A64AE-3281-F552-6125-CB88F2CDC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7BFCC-6227-3311-8C30-586BAE9A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5E2A3-67F5-88F7-8E84-1ABF8A31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A69F4-EA85-1239-1EEE-5FC9324A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3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8ECB-3E89-835A-4FF4-86BCDEA7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99E42-9387-866F-83D9-964797A6F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384EC-CE2E-75D5-3052-DFCB13183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DE505-12A1-7EBE-B7A3-F6912D1E4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AD7C1-3232-85C4-9E74-0798FA7D8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8E3CE-6DF4-E276-8DA4-5DC68F5C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D9CA3-BCD4-E4B2-2247-1649F740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26A975-0221-00D5-598E-3EEE137C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45CF-6BDA-4E3E-8EF5-CEE82952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E4EEE-F19D-D42C-A17B-24079A8C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020BA-4271-E442-4C0D-A7AB861C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23189-CE7D-21F8-AC15-40166D105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6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D0569-E449-ADA9-6BC6-D3B8B762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BACDB-F7DE-8146-1F77-1C9CCF5F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4E1D1-8599-ADC4-C58F-2DFA4BDBB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62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EB26-5E2F-68A7-A0A4-9277ACFE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FD9D-2D38-2330-F033-E6BC001F2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F1722-AC80-AC69-5CC5-9C4580DDF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0D953-280C-2ED2-4083-B0A22C89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4E884-706F-E2CF-F401-D5461F52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6AD9F-4E09-0848-C534-3AAA980C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2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0F13-F634-E83C-B3C7-76FD7434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7E4F6-9A36-719F-CBEC-DF4CC03FB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76036-2D81-D60A-322C-9D938A1B3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EC8D1-FA03-8B1E-0D74-B26A9AB4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7EAA7-762A-F611-966C-25502C3E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E66F2-AEF5-C1AC-A0F2-CAD75D8F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90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60C0-83C5-73B6-9229-793E0682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998A1-0A2A-DDE4-E4BD-87D2D97D2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685C0-2631-1941-FEC0-4DAC7FB3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9B7B3-9319-EDC3-F0A1-759744E8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C8770-F11A-4DC4-415B-EDD2659E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3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0E23D-D9A3-BE40-E3FA-0448C25DF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6FBE6-D438-4EBB-5E0D-91E58F433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04E0-3383-6664-8500-8AA26D60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8160A-9972-9B4D-99B2-1E63EA9B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51E02-EDB4-2B80-01B9-E79651BF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1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D7D97-A69E-A4D9-3469-F113DC6D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A643B-88E5-7C63-2784-73435782E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C3D2-0EAB-D9DF-38A6-A9B9EBAAE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09A8-7932-4086-A609-10D72F65306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E1097-6990-2797-DDF6-6B747DAC8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C50DE-15DF-ABF4-388B-B37CB6E86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65BA-E241-48FB-A9A6-3DC836746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295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D20A5C-E247-338A-767E-4B28433ADB42}"/>
              </a:ext>
            </a:extLst>
          </p:cNvPr>
          <p:cNvSpPr/>
          <p:nvPr/>
        </p:nvSpPr>
        <p:spPr>
          <a:xfrm>
            <a:off x="101600" y="142875"/>
            <a:ext cx="11988800" cy="65917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CCD574-4914-E0DD-F1E3-4F6F22F5A6F4}"/>
              </a:ext>
            </a:extLst>
          </p:cNvPr>
          <p:cNvCxnSpPr>
            <a:cxnSpLocks/>
          </p:cNvCxnSpPr>
          <p:nvPr/>
        </p:nvCxnSpPr>
        <p:spPr>
          <a:xfrm>
            <a:off x="101600" y="933450"/>
            <a:ext cx="11988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11ED7F-ABAF-E9CA-F677-614F063EC36B}"/>
              </a:ext>
            </a:extLst>
          </p:cNvPr>
          <p:cNvSpPr txBox="1"/>
          <p:nvPr/>
        </p:nvSpPr>
        <p:spPr>
          <a:xfrm>
            <a:off x="566739" y="253811"/>
            <a:ext cx="513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MedTrack_DV </a:t>
            </a:r>
          </a:p>
          <a:p>
            <a:r>
              <a:rPr lang="en-IN" dirty="0">
                <a:solidFill>
                  <a:schemeClr val="bg1"/>
                </a:solidFill>
              </a:rPr>
              <a:t>Hospital Operations &amp; Patient Analytics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8C5B36-F991-0C36-2BB3-8BBB5B7985A0}"/>
              </a:ext>
            </a:extLst>
          </p:cNvPr>
          <p:cNvSpPr txBox="1"/>
          <p:nvPr/>
        </p:nvSpPr>
        <p:spPr>
          <a:xfrm>
            <a:off x="7632698" y="327919"/>
            <a:ext cx="819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75000"/>
                  </a:schemeClr>
                </a:solidFill>
              </a:rPr>
              <a:t>Hospital Overview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0E3C82-38C7-EC91-B862-5A32F313BBBF}"/>
              </a:ext>
            </a:extLst>
          </p:cNvPr>
          <p:cNvSpPr txBox="1"/>
          <p:nvPr/>
        </p:nvSpPr>
        <p:spPr>
          <a:xfrm>
            <a:off x="8886824" y="346145"/>
            <a:ext cx="735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Patient 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53E01D-FEAC-0D8F-A6F0-B9B96C3DB918}"/>
              </a:ext>
            </a:extLst>
          </p:cNvPr>
          <p:cNvSpPr txBox="1"/>
          <p:nvPr/>
        </p:nvSpPr>
        <p:spPr>
          <a:xfrm>
            <a:off x="10040931" y="335446"/>
            <a:ext cx="97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Department Analytics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A31F1C-5480-9784-CF1F-2028F11E496B}"/>
              </a:ext>
            </a:extLst>
          </p:cNvPr>
          <p:cNvSpPr txBox="1"/>
          <p:nvPr/>
        </p:nvSpPr>
        <p:spPr>
          <a:xfrm>
            <a:off x="11300020" y="327919"/>
            <a:ext cx="844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Resource Utilization</a:t>
            </a:r>
          </a:p>
        </p:txBody>
      </p:sp>
      <p:pic>
        <p:nvPicPr>
          <p:cNvPr id="3" name="Picture 2" descr="Medical sign ">
            <a:extLst>
              <a:ext uri="{FF2B5EF4-FFF2-40B4-BE49-F238E27FC236}">
                <a16:creationId xmlns:a16="http://schemas.microsoft.com/office/drawing/2014/main" id="{53DF4829-9FCA-C7D5-267F-56F2EF55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9" y="382408"/>
            <a:ext cx="351035" cy="351035"/>
          </a:xfrm>
          <a:prstGeom prst="rect">
            <a:avLst/>
          </a:prstGeom>
        </p:spPr>
      </p:pic>
      <p:pic>
        <p:nvPicPr>
          <p:cNvPr id="4" name="Picture 3" descr="Business report ">
            <a:extLst>
              <a:ext uri="{FF2B5EF4-FFF2-40B4-BE49-F238E27FC236}">
                <a16:creationId xmlns:a16="http://schemas.microsoft.com/office/drawing/2014/main" id="{AA39E663-642E-473E-5420-45707AC6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68" y="344882"/>
            <a:ext cx="426085" cy="426085"/>
          </a:xfrm>
          <a:prstGeom prst="rect">
            <a:avLst/>
          </a:prstGeom>
        </p:spPr>
      </p:pic>
      <p:pic>
        <p:nvPicPr>
          <p:cNvPr id="6" name="Picture 5" descr="Patient ">
            <a:extLst>
              <a:ext uri="{FF2B5EF4-FFF2-40B4-BE49-F238E27FC236}">
                <a16:creationId xmlns:a16="http://schemas.microsoft.com/office/drawing/2014/main" id="{374BBC72-D128-16B0-B3EF-A8421BF6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66" y="311699"/>
            <a:ext cx="426080" cy="426080"/>
          </a:xfrm>
          <a:prstGeom prst="rect">
            <a:avLst/>
          </a:prstGeom>
        </p:spPr>
      </p:pic>
      <p:pic>
        <p:nvPicPr>
          <p:cNvPr id="7" name="Picture 6" descr="Corporation ">
            <a:extLst>
              <a:ext uri="{FF2B5EF4-FFF2-40B4-BE49-F238E27FC236}">
                <a16:creationId xmlns:a16="http://schemas.microsoft.com/office/drawing/2014/main" id="{97A99D9D-15D1-89ED-BB96-119D66A32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51" y="335446"/>
            <a:ext cx="425996" cy="425996"/>
          </a:xfrm>
          <a:prstGeom prst="rect">
            <a:avLst/>
          </a:prstGeom>
        </p:spPr>
      </p:pic>
      <p:pic>
        <p:nvPicPr>
          <p:cNvPr id="11" name="Picture 10" descr="Utilization ">
            <a:extLst>
              <a:ext uri="{FF2B5EF4-FFF2-40B4-BE49-F238E27FC236}">
                <a16:creationId xmlns:a16="http://schemas.microsoft.com/office/drawing/2014/main" id="{6D576372-A264-6F84-4466-345E3E960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548" y="363937"/>
            <a:ext cx="426078" cy="42607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23A5B29-463D-1D1B-0BE6-3BD2A3995A7A}"/>
              </a:ext>
            </a:extLst>
          </p:cNvPr>
          <p:cNvSpPr/>
          <p:nvPr/>
        </p:nvSpPr>
        <p:spPr>
          <a:xfrm>
            <a:off x="101600" y="933450"/>
            <a:ext cx="1533845" cy="5801178"/>
          </a:xfrm>
          <a:prstGeom prst="rect">
            <a:avLst/>
          </a:prstGeom>
          <a:solidFill>
            <a:srgbClr val="E2EDFD">
              <a:alpha val="75000"/>
            </a:srgbClr>
          </a:solidFill>
          <a:ln w="9525">
            <a:solidFill>
              <a:schemeClr val="dk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A729B-B931-C399-AB8F-D930218C3A0C}"/>
              </a:ext>
            </a:extLst>
          </p:cNvPr>
          <p:cNvSpPr txBox="1"/>
          <p:nvPr/>
        </p:nvSpPr>
        <p:spPr>
          <a:xfrm>
            <a:off x="61814" y="919095"/>
            <a:ext cx="138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Navigation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C2A62B-D6E2-E0D8-5405-8A4DAE2EEAAF}"/>
              </a:ext>
            </a:extLst>
          </p:cNvPr>
          <p:cNvCxnSpPr>
            <a:cxnSpLocks/>
          </p:cNvCxnSpPr>
          <p:nvPr/>
        </p:nvCxnSpPr>
        <p:spPr>
          <a:xfrm>
            <a:off x="101600" y="2438400"/>
            <a:ext cx="15065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2A405BB-AA00-6D46-B27F-A6E1D43A0E61}"/>
              </a:ext>
            </a:extLst>
          </p:cNvPr>
          <p:cNvSpPr txBox="1"/>
          <p:nvPr/>
        </p:nvSpPr>
        <p:spPr>
          <a:xfrm>
            <a:off x="222151" y="1296611"/>
            <a:ext cx="1251146" cy="306467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Overview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3E6E08-4E42-9614-CB8C-F5AD8684FD08}"/>
              </a:ext>
            </a:extLst>
          </p:cNvPr>
          <p:cNvSpPr txBox="1"/>
          <p:nvPr/>
        </p:nvSpPr>
        <p:spPr>
          <a:xfrm>
            <a:off x="222151" y="1546046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Patient Flow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5A6DFF-E6D5-BC6D-23E9-60CF1099F433}"/>
              </a:ext>
            </a:extLst>
          </p:cNvPr>
          <p:cNvSpPr txBox="1"/>
          <p:nvPr/>
        </p:nvSpPr>
        <p:spPr>
          <a:xfrm>
            <a:off x="222150" y="1787325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Department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259D75-5269-583E-554F-D0B1FD430B5D}"/>
              </a:ext>
            </a:extLst>
          </p:cNvPr>
          <p:cNvSpPr txBox="1"/>
          <p:nvPr/>
        </p:nvSpPr>
        <p:spPr>
          <a:xfrm>
            <a:off x="222149" y="2052267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C83E13-6E2F-2BD5-D807-B32F40325B79}"/>
              </a:ext>
            </a:extLst>
          </p:cNvPr>
          <p:cNvSpPr txBox="1"/>
          <p:nvPr/>
        </p:nvSpPr>
        <p:spPr>
          <a:xfrm>
            <a:off x="81853" y="2573165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Filters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3CFD69-BF0C-CC29-0C67-5A3BE104CC93}"/>
              </a:ext>
            </a:extLst>
          </p:cNvPr>
          <p:cNvSpPr txBox="1"/>
          <p:nvPr/>
        </p:nvSpPr>
        <p:spPr>
          <a:xfrm>
            <a:off x="101600" y="2983333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Date Range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A50CFDB-11F0-686A-79C8-D0A48F572C00}"/>
              </a:ext>
            </a:extLst>
          </p:cNvPr>
          <p:cNvSpPr/>
          <p:nvPr/>
        </p:nvSpPr>
        <p:spPr>
          <a:xfrm>
            <a:off x="195163" y="3291110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97D323-42CF-96F4-C95F-9121514D1AA9}"/>
              </a:ext>
            </a:extLst>
          </p:cNvPr>
          <p:cNvSpPr txBox="1"/>
          <p:nvPr/>
        </p:nvSpPr>
        <p:spPr>
          <a:xfrm>
            <a:off x="175419" y="327474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838DE1-B3C2-2AE0-023B-A56B169113F1}"/>
              </a:ext>
            </a:extLst>
          </p:cNvPr>
          <p:cNvSpPr txBox="1"/>
          <p:nvPr/>
        </p:nvSpPr>
        <p:spPr>
          <a:xfrm>
            <a:off x="117572" y="3582518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Hospital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0AAD41D-8934-9B3B-EFFD-AAF89A72EC91}"/>
              </a:ext>
            </a:extLst>
          </p:cNvPr>
          <p:cNvSpPr/>
          <p:nvPr/>
        </p:nvSpPr>
        <p:spPr>
          <a:xfrm>
            <a:off x="211135" y="3890295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B81B4D-11CA-6AE3-9477-6382B6E90BFE}"/>
              </a:ext>
            </a:extLst>
          </p:cNvPr>
          <p:cNvSpPr txBox="1"/>
          <p:nvPr/>
        </p:nvSpPr>
        <p:spPr>
          <a:xfrm>
            <a:off x="191391" y="3873926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FFFB9D-2380-0BEA-97DD-FF331825411C}"/>
              </a:ext>
            </a:extLst>
          </p:cNvPr>
          <p:cNvSpPr txBox="1"/>
          <p:nvPr/>
        </p:nvSpPr>
        <p:spPr>
          <a:xfrm>
            <a:off x="117572" y="4185451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State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164FD3-4365-3D73-BE8B-1D729E0D8994}"/>
              </a:ext>
            </a:extLst>
          </p:cNvPr>
          <p:cNvSpPr/>
          <p:nvPr/>
        </p:nvSpPr>
        <p:spPr>
          <a:xfrm>
            <a:off x="211135" y="4493228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5EB17C-F042-818D-9F77-EFA1C06A2D72}"/>
              </a:ext>
            </a:extLst>
          </p:cNvPr>
          <p:cNvSpPr txBox="1"/>
          <p:nvPr/>
        </p:nvSpPr>
        <p:spPr>
          <a:xfrm>
            <a:off x="191391" y="4476859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7399D-1D4B-0249-4D5A-E7CBBEA5A643}"/>
              </a:ext>
            </a:extLst>
          </p:cNvPr>
          <p:cNvSpPr txBox="1"/>
          <p:nvPr/>
        </p:nvSpPr>
        <p:spPr>
          <a:xfrm>
            <a:off x="109439" y="4788384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Hospital Type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2D78532-6D6F-4A9D-A0BE-A60A59700EE1}"/>
              </a:ext>
            </a:extLst>
          </p:cNvPr>
          <p:cNvSpPr/>
          <p:nvPr/>
        </p:nvSpPr>
        <p:spPr>
          <a:xfrm>
            <a:off x="203002" y="5096161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21AC6D-65BC-4335-2D8B-32C558C7C68A}"/>
              </a:ext>
            </a:extLst>
          </p:cNvPr>
          <p:cNvSpPr txBox="1"/>
          <p:nvPr/>
        </p:nvSpPr>
        <p:spPr>
          <a:xfrm>
            <a:off x="183258" y="5079792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30C866-81C3-FD5F-2777-3ACE697C7F26}"/>
              </a:ext>
            </a:extLst>
          </p:cNvPr>
          <p:cNvSpPr txBox="1"/>
          <p:nvPr/>
        </p:nvSpPr>
        <p:spPr>
          <a:xfrm>
            <a:off x="201855" y="5612598"/>
            <a:ext cx="1267729" cy="377904"/>
          </a:xfrm>
          <a:prstGeom prst="roundRect">
            <a:avLst>
              <a:gd name="adj" fmla="val 12005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Clear Filters</a:t>
            </a:r>
            <a:endParaRPr lang="en-IN" sz="1700" b="1" dirty="0">
              <a:solidFill>
                <a:schemeClr val="bg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3426CF6-8494-37BC-BEB6-1EBACFD094B7}"/>
              </a:ext>
            </a:extLst>
          </p:cNvPr>
          <p:cNvSpPr/>
          <p:nvPr/>
        </p:nvSpPr>
        <p:spPr>
          <a:xfrm>
            <a:off x="1777492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64E58D2-2066-96D9-AB41-647BAB97B832}"/>
              </a:ext>
            </a:extLst>
          </p:cNvPr>
          <p:cNvSpPr/>
          <p:nvPr/>
        </p:nvSpPr>
        <p:spPr>
          <a:xfrm>
            <a:off x="3505637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92C45ABC-CD59-089B-1940-BFB34F5CCB92}"/>
              </a:ext>
            </a:extLst>
          </p:cNvPr>
          <p:cNvSpPr/>
          <p:nvPr/>
        </p:nvSpPr>
        <p:spPr>
          <a:xfrm>
            <a:off x="5233782" y="1034052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0A76162-8A2E-C11C-379F-6AE15645709B}"/>
              </a:ext>
            </a:extLst>
          </p:cNvPr>
          <p:cNvSpPr/>
          <p:nvPr/>
        </p:nvSpPr>
        <p:spPr>
          <a:xfrm>
            <a:off x="6958219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1CBF6C6-AD09-E9A7-3817-839D6F8669CF}"/>
              </a:ext>
            </a:extLst>
          </p:cNvPr>
          <p:cNvSpPr/>
          <p:nvPr/>
        </p:nvSpPr>
        <p:spPr>
          <a:xfrm>
            <a:off x="8686364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F50F5B1-A67C-6AF3-0337-FD635ABFACAF}"/>
              </a:ext>
            </a:extLst>
          </p:cNvPr>
          <p:cNvSpPr/>
          <p:nvPr/>
        </p:nvSpPr>
        <p:spPr>
          <a:xfrm>
            <a:off x="10414508" y="1034052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750A8F-F28D-0B59-89BE-505598FD4207}"/>
              </a:ext>
            </a:extLst>
          </p:cNvPr>
          <p:cNvSpPr txBox="1"/>
          <p:nvPr/>
        </p:nvSpPr>
        <p:spPr>
          <a:xfrm>
            <a:off x="1792495" y="1006198"/>
            <a:ext cx="1507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Total Hospital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3E6CB3-F7D4-5870-390B-D9ECA4546E63}"/>
              </a:ext>
            </a:extLst>
          </p:cNvPr>
          <p:cNvSpPr txBox="1"/>
          <p:nvPr/>
        </p:nvSpPr>
        <p:spPr>
          <a:xfrm>
            <a:off x="10414509" y="1006199"/>
            <a:ext cx="1507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ICU Utilization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7F729A7-4AAB-8D77-879A-B06C29D75BB0}"/>
              </a:ext>
            </a:extLst>
          </p:cNvPr>
          <p:cNvSpPr txBox="1"/>
          <p:nvPr/>
        </p:nvSpPr>
        <p:spPr>
          <a:xfrm>
            <a:off x="8682656" y="1026663"/>
            <a:ext cx="1533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Readmission Rate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DC95F28-34F7-E7D0-189C-9B6E3E6A0772}"/>
              </a:ext>
            </a:extLst>
          </p:cNvPr>
          <p:cNvSpPr txBox="1"/>
          <p:nvPr/>
        </p:nvSpPr>
        <p:spPr>
          <a:xfrm>
            <a:off x="6985382" y="1007013"/>
            <a:ext cx="1499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Average Stay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3BDC18D-1D74-0961-EB79-48B041422410}"/>
              </a:ext>
            </a:extLst>
          </p:cNvPr>
          <p:cNvSpPr txBox="1"/>
          <p:nvPr/>
        </p:nvSpPr>
        <p:spPr>
          <a:xfrm>
            <a:off x="5230074" y="1025782"/>
            <a:ext cx="1557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Occupancy Rate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4AA1DA1-0B21-14FB-9B87-86F4430958F9}"/>
              </a:ext>
            </a:extLst>
          </p:cNvPr>
          <p:cNvSpPr txBox="1"/>
          <p:nvPr/>
        </p:nvSpPr>
        <p:spPr>
          <a:xfrm>
            <a:off x="3546500" y="1015724"/>
            <a:ext cx="1533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Total Admissions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40569B7-A43B-0582-B60F-8F806A13FB40}"/>
              </a:ext>
            </a:extLst>
          </p:cNvPr>
          <p:cNvSpPr/>
          <p:nvPr/>
        </p:nvSpPr>
        <p:spPr>
          <a:xfrm>
            <a:off x="1777492" y="2047134"/>
            <a:ext cx="5009881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7B9C199-B0B8-A84E-D173-C70246C2B0CC}"/>
              </a:ext>
            </a:extLst>
          </p:cNvPr>
          <p:cNvSpPr/>
          <p:nvPr/>
        </p:nvSpPr>
        <p:spPr>
          <a:xfrm>
            <a:off x="7013424" y="2047134"/>
            <a:ext cx="4930287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F77009C-50D1-078D-F471-A69558A8F159}"/>
              </a:ext>
            </a:extLst>
          </p:cNvPr>
          <p:cNvSpPr/>
          <p:nvPr/>
        </p:nvSpPr>
        <p:spPr>
          <a:xfrm>
            <a:off x="1777492" y="4375621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B1CFBB6D-6A4C-AA86-0364-F0FBAC3637CD}"/>
              </a:ext>
            </a:extLst>
          </p:cNvPr>
          <p:cNvSpPr/>
          <p:nvPr/>
        </p:nvSpPr>
        <p:spPr>
          <a:xfrm>
            <a:off x="5244477" y="4391765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0F3D9FC-1079-A8AB-C10C-E61116132514}"/>
              </a:ext>
            </a:extLst>
          </p:cNvPr>
          <p:cNvSpPr/>
          <p:nvPr/>
        </p:nvSpPr>
        <p:spPr>
          <a:xfrm>
            <a:off x="8682656" y="4384238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63ADE06-9297-3ECF-7C30-F5B4FF25A6E3}"/>
              </a:ext>
            </a:extLst>
          </p:cNvPr>
          <p:cNvSpPr txBox="1"/>
          <p:nvPr/>
        </p:nvSpPr>
        <p:spPr>
          <a:xfrm>
            <a:off x="2910222" y="2008204"/>
            <a:ext cx="240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Admissions by Hospital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(Horizontal Bar Chart)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0D984-DC86-E938-ECBC-DF9FACFEAC9D}"/>
              </a:ext>
            </a:extLst>
          </p:cNvPr>
          <p:cNvSpPr txBox="1"/>
          <p:nvPr/>
        </p:nvSpPr>
        <p:spPr>
          <a:xfrm>
            <a:off x="8062150" y="2008204"/>
            <a:ext cx="2875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Monthly Admission Trend (Line Chart)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A3E91-B497-461D-941D-52FBB2AD7320}"/>
              </a:ext>
            </a:extLst>
          </p:cNvPr>
          <p:cNvSpPr txBox="1"/>
          <p:nvPr/>
        </p:nvSpPr>
        <p:spPr>
          <a:xfrm>
            <a:off x="2082128" y="4339339"/>
            <a:ext cx="2652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State-wise Admissions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(Filled Map)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2647A-D1C7-B40D-A7CB-3900F73FFB7C}"/>
              </a:ext>
            </a:extLst>
          </p:cNvPr>
          <p:cNvSpPr txBox="1"/>
          <p:nvPr/>
        </p:nvSpPr>
        <p:spPr>
          <a:xfrm>
            <a:off x="5631861" y="4352278"/>
            <a:ext cx="2652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Hospital Type Distribution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(Donut Chart)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B8F67-B2F2-E88F-A4AD-E97D1FFB56C7}"/>
              </a:ext>
            </a:extLst>
          </p:cNvPr>
          <p:cNvSpPr txBox="1"/>
          <p:nvPr/>
        </p:nvSpPr>
        <p:spPr>
          <a:xfrm>
            <a:off x="8682657" y="4354142"/>
            <a:ext cx="3239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Occupancy Rate by Hospital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(Bar/ Bullet Chart)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451C09-9ABB-9899-48B6-D8695155C8D2}"/>
              </a:ext>
            </a:extLst>
          </p:cNvPr>
          <p:cNvCxnSpPr>
            <a:cxnSpLocks/>
          </p:cNvCxnSpPr>
          <p:nvPr/>
        </p:nvCxnSpPr>
        <p:spPr>
          <a:xfrm>
            <a:off x="7725141" y="797653"/>
            <a:ext cx="578297" cy="0"/>
          </a:xfrm>
          <a:prstGeom prst="line">
            <a:avLst/>
          </a:prstGeom>
          <a:ln w="38100">
            <a:solidFill>
              <a:srgbClr val="9DC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Hospital ">
            <a:extLst>
              <a:ext uri="{FF2B5EF4-FFF2-40B4-BE49-F238E27FC236}">
                <a16:creationId xmlns:a16="http://schemas.microsoft.com/office/drawing/2014/main" id="{16BB5062-AE52-EE44-BAC3-0BF97E609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059" y="1425581"/>
            <a:ext cx="333071" cy="333071"/>
          </a:xfrm>
          <a:prstGeom prst="rect">
            <a:avLst/>
          </a:prstGeom>
        </p:spPr>
      </p:pic>
      <p:pic>
        <p:nvPicPr>
          <p:cNvPr id="27" name="Picture 26" descr="Patient ">
            <a:extLst>
              <a:ext uri="{FF2B5EF4-FFF2-40B4-BE49-F238E27FC236}">
                <a16:creationId xmlns:a16="http://schemas.microsoft.com/office/drawing/2014/main" id="{E4310EA9-3736-A2EC-77AF-409748BD4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05" y="1418177"/>
            <a:ext cx="333070" cy="333070"/>
          </a:xfrm>
          <a:prstGeom prst="rect">
            <a:avLst/>
          </a:prstGeom>
        </p:spPr>
      </p:pic>
      <p:pic>
        <p:nvPicPr>
          <p:cNvPr id="28" name="Picture 27" descr="Occupational therapy ">
            <a:extLst>
              <a:ext uri="{FF2B5EF4-FFF2-40B4-BE49-F238E27FC236}">
                <a16:creationId xmlns:a16="http://schemas.microsoft.com/office/drawing/2014/main" id="{AD5F5E75-B8DF-4D2C-5CC5-23A9C86CFB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5549" y="1426865"/>
            <a:ext cx="333070" cy="333070"/>
          </a:xfrm>
          <a:prstGeom prst="rect">
            <a:avLst/>
          </a:prstGeom>
        </p:spPr>
      </p:pic>
      <p:pic>
        <p:nvPicPr>
          <p:cNvPr id="30" name="Picture 29" descr="Back in time ">
            <a:extLst>
              <a:ext uri="{FF2B5EF4-FFF2-40B4-BE49-F238E27FC236}">
                <a16:creationId xmlns:a16="http://schemas.microsoft.com/office/drawing/2014/main" id="{60ECC89D-1D26-758D-F417-FDB87E03C6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0594" y="1418177"/>
            <a:ext cx="333070" cy="333070"/>
          </a:xfrm>
          <a:prstGeom prst="rect">
            <a:avLst/>
          </a:prstGeom>
        </p:spPr>
      </p:pic>
      <p:pic>
        <p:nvPicPr>
          <p:cNvPr id="32" name="Picture 31" descr="Heart rate ">
            <a:extLst>
              <a:ext uri="{FF2B5EF4-FFF2-40B4-BE49-F238E27FC236}">
                <a16:creationId xmlns:a16="http://schemas.microsoft.com/office/drawing/2014/main" id="{32ABB25C-1416-28F9-E6E6-23506D18D1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6706" y="1418177"/>
            <a:ext cx="333070" cy="333070"/>
          </a:xfrm>
          <a:prstGeom prst="rect">
            <a:avLst/>
          </a:prstGeom>
        </p:spPr>
      </p:pic>
      <p:pic>
        <p:nvPicPr>
          <p:cNvPr id="34" name="Picture 33" descr="Reload ">
            <a:extLst>
              <a:ext uri="{FF2B5EF4-FFF2-40B4-BE49-F238E27FC236}">
                <a16:creationId xmlns:a16="http://schemas.microsoft.com/office/drawing/2014/main" id="{A0FEA43F-9352-515B-9628-5843370038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9489" y="1438227"/>
            <a:ext cx="307777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2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8E62-3252-4C26-6C93-9AB78869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C84CFD-1889-A6BB-AEED-F39DEA16B0BE}"/>
              </a:ext>
            </a:extLst>
          </p:cNvPr>
          <p:cNvSpPr/>
          <p:nvPr/>
        </p:nvSpPr>
        <p:spPr>
          <a:xfrm>
            <a:off x="101600" y="142875"/>
            <a:ext cx="11988800" cy="65917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993486-2382-CFE4-DBD2-4CB9C6D7F432}"/>
              </a:ext>
            </a:extLst>
          </p:cNvPr>
          <p:cNvCxnSpPr>
            <a:cxnSpLocks/>
          </p:cNvCxnSpPr>
          <p:nvPr/>
        </p:nvCxnSpPr>
        <p:spPr>
          <a:xfrm>
            <a:off x="101600" y="933450"/>
            <a:ext cx="11988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8B3604-C33F-A502-D333-4669742097B4}"/>
              </a:ext>
            </a:extLst>
          </p:cNvPr>
          <p:cNvSpPr txBox="1"/>
          <p:nvPr/>
        </p:nvSpPr>
        <p:spPr>
          <a:xfrm>
            <a:off x="566739" y="253811"/>
            <a:ext cx="513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MedTrack_DV </a:t>
            </a:r>
          </a:p>
          <a:p>
            <a:r>
              <a:rPr lang="en-IN" dirty="0">
                <a:solidFill>
                  <a:schemeClr val="bg1"/>
                </a:solidFill>
              </a:rPr>
              <a:t>Hospital Operations &amp; Patient Analytics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99A19-2E90-6837-868B-BA5CD3EDE2BB}"/>
              </a:ext>
            </a:extLst>
          </p:cNvPr>
          <p:cNvSpPr txBox="1"/>
          <p:nvPr/>
        </p:nvSpPr>
        <p:spPr>
          <a:xfrm>
            <a:off x="7632698" y="327919"/>
            <a:ext cx="819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Hospital Overview </a:t>
            </a:r>
            <a:endParaRPr lang="en-IN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0781B9-4F1F-A287-45D9-F73361A6B672}"/>
              </a:ext>
            </a:extLst>
          </p:cNvPr>
          <p:cNvSpPr txBox="1"/>
          <p:nvPr/>
        </p:nvSpPr>
        <p:spPr>
          <a:xfrm>
            <a:off x="8886824" y="346145"/>
            <a:ext cx="735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75000"/>
                  </a:schemeClr>
                </a:solidFill>
              </a:rPr>
              <a:t>Patient 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E6CBEF-2625-C269-9527-3AB69D039620}"/>
              </a:ext>
            </a:extLst>
          </p:cNvPr>
          <p:cNvSpPr txBox="1"/>
          <p:nvPr/>
        </p:nvSpPr>
        <p:spPr>
          <a:xfrm>
            <a:off x="10040931" y="335446"/>
            <a:ext cx="97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Department Analytics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5A39B5-DF05-517C-B852-893666B33095}"/>
              </a:ext>
            </a:extLst>
          </p:cNvPr>
          <p:cNvSpPr txBox="1"/>
          <p:nvPr/>
        </p:nvSpPr>
        <p:spPr>
          <a:xfrm>
            <a:off x="11300020" y="327919"/>
            <a:ext cx="844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Resource Utilization</a:t>
            </a:r>
          </a:p>
        </p:txBody>
      </p:sp>
      <p:pic>
        <p:nvPicPr>
          <p:cNvPr id="3" name="Picture 2" descr="Medical sign ">
            <a:extLst>
              <a:ext uri="{FF2B5EF4-FFF2-40B4-BE49-F238E27FC236}">
                <a16:creationId xmlns:a16="http://schemas.microsoft.com/office/drawing/2014/main" id="{08C5C2AA-F702-BE8B-7AA7-53F14342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9" y="382408"/>
            <a:ext cx="351035" cy="351035"/>
          </a:xfrm>
          <a:prstGeom prst="rect">
            <a:avLst/>
          </a:prstGeom>
        </p:spPr>
      </p:pic>
      <p:pic>
        <p:nvPicPr>
          <p:cNvPr id="4" name="Picture 3" descr="Business report ">
            <a:extLst>
              <a:ext uri="{FF2B5EF4-FFF2-40B4-BE49-F238E27FC236}">
                <a16:creationId xmlns:a16="http://schemas.microsoft.com/office/drawing/2014/main" id="{9192341D-0ADC-41A9-3842-18BC22B5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68" y="344882"/>
            <a:ext cx="426085" cy="426085"/>
          </a:xfrm>
          <a:prstGeom prst="rect">
            <a:avLst/>
          </a:prstGeom>
        </p:spPr>
      </p:pic>
      <p:pic>
        <p:nvPicPr>
          <p:cNvPr id="6" name="Picture 5" descr="Patient ">
            <a:extLst>
              <a:ext uri="{FF2B5EF4-FFF2-40B4-BE49-F238E27FC236}">
                <a16:creationId xmlns:a16="http://schemas.microsoft.com/office/drawing/2014/main" id="{A4D76D49-DD4B-AE59-4DFC-6629124F3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66" y="311699"/>
            <a:ext cx="426080" cy="426080"/>
          </a:xfrm>
          <a:prstGeom prst="rect">
            <a:avLst/>
          </a:prstGeom>
        </p:spPr>
      </p:pic>
      <p:pic>
        <p:nvPicPr>
          <p:cNvPr id="7" name="Picture 6" descr="Corporation ">
            <a:extLst>
              <a:ext uri="{FF2B5EF4-FFF2-40B4-BE49-F238E27FC236}">
                <a16:creationId xmlns:a16="http://schemas.microsoft.com/office/drawing/2014/main" id="{43769706-9D3D-3CF5-5D56-CB6EA2944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51" y="335446"/>
            <a:ext cx="425996" cy="425996"/>
          </a:xfrm>
          <a:prstGeom prst="rect">
            <a:avLst/>
          </a:prstGeom>
        </p:spPr>
      </p:pic>
      <p:pic>
        <p:nvPicPr>
          <p:cNvPr id="11" name="Picture 10" descr="Utilization ">
            <a:extLst>
              <a:ext uri="{FF2B5EF4-FFF2-40B4-BE49-F238E27FC236}">
                <a16:creationId xmlns:a16="http://schemas.microsoft.com/office/drawing/2014/main" id="{266D9742-BDAF-F923-FED7-24A26198D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548" y="363937"/>
            <a:ext cx="426078" cy="42607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AA82A2D-F63D-A3BB-38D3-6D9BD4EA3595}"/>
              </a:ext>
            </a:extLst>
          </p:cNvPr>
          <p:cNvSpPr/>
          <p:nvPr/>
        </p:nvSpPr>
        <p:spPr>
          <a:xfrm>
            <a:off x="101600" y="933450"/>
            <a:ext cx="1533845" cy="5801178"/>
          </a:xfrm>
          <a:prstGeom prst="rect">
            <a:avLst/>
          </a:prstGeom>
          <a:solidFill>
            <a:srgbClr val="E2EDFD">
              <a:alpha val="75000"/>
            </a:srgbClr>
          </a:solidFill>
          <a:ln w="9525">
            <a:solidFill>
              <a:schemeClr val="dk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35866B-A1C6-C6BB-5C0C-EAF82BC38C42}"/>
              </a:ext>
            </a:extLst>
          </p:cNvPr>
          <p:cNvSpPr txBox="1"/>
          <p:nvPr/>
        </p:nvSpPr>
        <p:spPr>
          <a:xfrm>
            <a:off x="61814" y="919095"/>
            <a:ext cx="138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Navigation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F0D539-2270-3635-E29D-101B18E9AF5C}"/>
              </a:ext>
            </a:extLst>
          </p:cNvPr>
          <p:cNvCxnSpPr>
            <a:cxnSpLocks/>
          </p:cNvCxnSpPr>
          <p:nvPr/>
        </p:nvCxnSpPr>
        <p:spPr>
          <a:xfrm>
            <a:off x="101600" y="2447925"/>
            <a:ext cx="15065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11C3417-ADE7-27CD-D684-2C7A947188FA}"/>
              </a:ext>
            </a:extLst>
          </p:cNvPr>
          <p:cNvSpPr txBox="1"/>
          <p:nvPr/>
        </p:nvSpPr>
        <p:spPr>
          <a:xfrm>
            <a:off x="222151" y="1296611"/>
            <a:ext cx="1251146" cy="306467"/>
          </a:xfrm>
          <a:prstGeom prst="roundRect">
            <a:avLst>
              <a:gd name="adj" fmla="val 16667"/>
            </a:avLst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Overview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D86CF-A4B0-2421-6CA2-A4F7E0D1612C}"/>
              </a:ext>
            </a:extLst>
          </p:cNvPr>
          <p:cNvSpPr txBox="1"/>
          <p:nvPr/>
        </p:nvSpPr>
        <p:spPr>
          <a:xfrm>
            <a:off x="222151" y="1546046"/>
            <a:ext cx="1251146" cy="306467"/>
          </a:xfrm>
          <a:prstGeom prst="roundRect">
            <a:avLst>
              <a:gd name="adj" fmla="val 22883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Patient Flow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53D8B8-B733-3993-A28D-848A7B5CDF75}"/>
              </a:ext>
            </a:extLst>
          </p:cNvPr>
          <p:cNvSpPr txBox="1"/>
          <p:nvPr/>
        </p:nvSpPr>
        <p:spPr>
          <a:xfrm>
            <a:off x="222150" y="1787325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Department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F5E4D0-8D40-16F7-3A85-34DAC3CFCF74}"/>
              </a:ext>
            </a:extLst>
          </p:cNvPr>
          <p:cNvSpPr txBox="1"/>
          <p:nvPr/>
        </p:nvSpPr>
        <p:spPr>
          <a:xfrm>
            <a:off x="222149" y="2052267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D62818-01FA-F177-1224-E5012208438E}"/>
              </a:ext>
            </a:extLst>
          </p:cNvPr>
          <p:cNvSpPr txBox="1"/>
          <p:nvPr/>
        </p:nvSpPr>
        <p:spPr>
          <a:xfrm>
            <a:off x="81853" y="2573165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Filters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CFFA60-BA39-B28A-088D-C54E9CDDCA0D}"/>
              </a:ext>
            </a:extLst>
          </p:cNvPr>
          <p:cNvSpPr txBox="1"/>
          <p:nvPr/>
        </p:nvSpPr>
        <p:spPr>
          <a:xfrm>
            <a:off x="101600" y="2983333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Date Range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E594294-C8E9-5F92-1DD9-00BF00350E5F}"/>
              </a:ext>
            </a:extLst>
          </p:cNvPr>
          <p:cNvSpPr/>
          <p:nvPr/>
        </p:nvSpPr>
        <p:spPr>
          <a:xfrm>
            <a:off x="195163" y="3291110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CF590-4B6F-E764-774F-B0F04B9567B1}"/>
              </a:ext>
            </a:extLst>
          </p:cNvPr>
          <p:cNvSpPr txBox="1"/>
          <p:nvPr/>
        </p:nvSpPr>
        <p:spPr>
          <a:xfrm>
            <a:off x="175419" y="327474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33B05C-4953-290D-85A7-BCFBC0C4F586}"/>
              </a:ext>
            </a:extLst>
          </p:cNvPr>
          <p:cNvSpPr txBox="1"/>
          <p:nvPr/>
        </p:nvSpPr>
        <p:spPr>
          <a:xfrm>
            <a:off x="117572" y="3582518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Hospital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5CB0A78-1F8A-CE64-AC6A-710CB922FE52}"/>
              </a:ext>
            </a:extLst>
          </p:cNvPr>
          <p:cNvSpPr/>
          <p:nvPr/>
        </p:nvSpPr>
        <p:spPr>
          <a:xfrm>
            <a:off x="211135" y="3890295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8882C2-8AA1-C601-6933-F95A8949D214}"/>
              </a:ext>
            </a:extLst>
          </p:cNvPr>
          <p:cNvSpPr txBox="1"/>
          <p:nvPr/>
        </p:nvSpPr>
        <p:spPr>
          <a:xfrm>
            <a:off x="191391" y="3873926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739549-2EC7-EF1A-4D77-271FDAE2DF3B}"/>
              </a:ext>
            </a:extLst>
          </p:cNvPr>
          <p:cNvSpPr txBox="1"/>
          <p:nvPr/>
        </p:nvSpPr>
        <p:spPr>
          <a:xfrm>
            <a:off x="117572" y="4185451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Department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975E1C9-3B5C-E56A-5CA0-F2CB7BF8A88F}"/>
              </a:ext>
            </a:extLst>
          </p:cNvPr>
          <p:cNvSpPr/>
          <p:nvPr/>
        </p:nvSpPr>
        <p:spPr>
          <a:xfrm>
            <a:off x="211135" y="4493228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F979C8-2AAC-5CC2-6F38-C00DD77892F0}"/>
              </a:ext>
            </a:extLst>
          </p:cNvPr>
          <p:cNvSpPr txBox="1"/>
          <p:nvPr/>
        </p:nvSpPr>
        <p:spPr>
          <a:xfrm>
            <a:off x="191391" y="4476859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730F1E-8249-0CD4-088B-F4534F31A6C1}"/>
              </a:ext>
            </a:extLst>
          </p:cNvPr>
          <p:cNvSpPr txBox="1"/>
          <p:nvPr/>
        </p:nvSpPr>
        <p:spPr>
          <a:xfrm>
            <a:off x="109439" y="4788384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Gender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D079B80-833B-C0F9-E490-94497DBB1303}"/>
              </a:ext>
            </a:extLst>
          </p:cNvPr>
          <p:cNvSpPr/>
          <p:nvPr/>
        </p:nvSpPr>
        <p:spPr>
          <a:xfrm>
            <a:off x="203002" y="5096161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1787C-E161-63C5-CC43-16DACFCDD281}"/>
              </a:ext>
            </a:extLst>
          </p:cNvPr>
          <p:cNvSpPr txBox="1"/>
          <p:nvPr/>
        </p:nvSpPr>
        <p:spPr>
          <a:xfrm>
            <a:off x="183258" y="5079792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F939F2-5496-C159-DD64-B91EDD3340E1}"/>
              </a:ext>
            </a:extLst>
          </p:cNvPr>
          <p:cNvSpPr txBox="1"/>
          <p:nvPr/>
        </p:nvSpPr>
        <p:spPr>
          <a:xfrm>
            <a:off x="200805" y="6136033"/>
            <a:ext cx="1267729" cy="377904"/>
          </a:xfrm>
          <a:prstGeom prst="roundRect">
            <a:avLst>
              <a:gd name="adj" fmla="val 12005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Clear Filters</a:t>
            </a:r>
            <a:endParaRPr lang="en-IN" sz="1700" b="1" dirty="0">
              <a:solidFill>
                <a:schemeClr val="bg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62C4B8B-17CD-CB54-BABA-AE91C0E97A6C}"/>
              </a:ext>
            </a:extLst>
          </p:cNvPr>
          <p:cNvSpPr/>
          <p:nvPr/>
        </p:nvSpPr>
        <p:spPr>
          <a:xfrm>
            <a:off x="1777492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B2CE249-9CE2-9D36-3817-77675B72EEAC}"/>
              </a:ext>
            </a:extLst>
          </p:cNvPr>
          <p:cNvSpPr/>
          <p:nvPr/>
        </p:nvSpPr>
        <p:spPr>
          <a:xfrm>
            <a:off x="3505637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C4AF5AD-BA77-E52B-48C2-5C448CDE35F3}"/>
              </a:ext>
            </a:extLst>
          </p:cNvPr>
          <p:cNvSpPr/>
          <p:nvPr/>
        </p:nvSpPr>
        <p:spPr>
          <a:xfrm>
            <a:off x="5233782" y="1034052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ADE1ABC-4052-FB21-A36C-E642EB26503C}"/>
              </a:ext>
            </a:extLst>
          </p:cNvPr>
          <p:cNvSpPr/>
          <p:nvPr/>
        </p:nvSpPr>
        <p:spPr>
          <a:xfrm>
            <a:off x="6958219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E55CD0A-068A-C5E8-BF2F-51964F96257B}"/>
              </a:ext>
            </a:extLst>
          </p:cNvPr>
          <p:cNvSpPr/>
          <p:nvPr/>
        </p:nvSpPr>
        <p:spPr>
          <a:xfrm>
            <a:off x="8686364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B3E02A9-EB2C-AFF0-6925-300C4AB29AB3}"/>
              </a:ext>
            </a:extLst>
          </p:cNvPr>
          <p:cNvSpPr/>
          <p:nvPr/>
        </p:nvSpPr>
        <p:spPr>
          <a:xfrm>
            <a:off x="10388382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565891-F968-C22B-3972-82E19AC96A60}"/>
              </a:ext>
            </a:extLst>
          </p:cNvPr>
          <p:cNvSpPr txBox="1"/>
          <p:nvPr/>
        </p:nvSpPr>
        <p:spPr>
          <a:xfrm>
            <a:off x="1792495" y="1006198"/>
            <a:ext cx="1507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Total Patients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09809B-1C00-B0DB-F23D-748F2389D66C}"/>
              </a:ext>
            </a:extLst>
          </p:cNvPr>
          <p:cNvSpPr txBox="1"/>
          <p:nvPr/>
        </p:nvSpPr>
        <p:spPr>
          <a:xfrm>
            <a:off x="10414509" y="1006199"/>
            <a:ext cx="1507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Recovery Rate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24EA22-EDB0-4A9B-879D-23C7487AF424}"/>
              </a:ext>
            </a:extLst>
          </p:cNvPr>
          <p:cNvSpPr txBox="1"/>
          <p:nvPr/>
        </p:nvSpPr>
        <p:spPr>
          <a:xfrm>
            <a:off x="8682656" y="1026663"/>
            <a:ext cx="1533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High Risk Patients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B0DD05-0297-C868-12A2-C9534362085E}"/>
              </a:ext>
            </a:extLst>
          </p:cNvPr>
          <p:cNvSpPr txBox="1"/>
          <p:nvPr/>
        </p:nvSpPr>
        <p:spPr>
          <a:xfrm>
            <a:off x="6918436" y="1025782"/>
            <a:ext cx="1625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Weekend Admissions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BE61DC-3F9F-044A-7073-1174D431BAF6}"/>
              </a:ext>
            </a:extLst>
          </p:cNvPr>
          <p:cNvSpPr txBox="1"/>
          <p:nvPr/>
        </p:nvSpPr>
        <p:spPr>
          <a:xfrm>
            <a:off x="5095177" y="1025782"/>
            <a:ext cx="1808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Emergency Admissions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19C097-91A0-3E16-F8BF-8040AEB31B25}"/>
              </a:ext>
            </a:extLst>
          </p:cNvPr>
          <p:cNvSpPr txBox="1"/>
          <p:nvPr/>
        </p:nvSpPr>
        <p:spPr>
          <a:xfrm>
            <a:off x="3490805" y="1015724"/>
            <a:ext cx="1589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Avg. Length of Stay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B08CDA-05AC-5581-CAF1-6A05DC426C74}"/>
              </a:ext>
            </a:extLst>
          </p:cNvPr>
          <p:cNvSpPr/>
          <p:nvPr/>
        </p:nvSpPr>
        <p:spPr>
          <a:xfrm>
            <a:off x="1777492" y="2047134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D5D52A-1ABD-D0F0-3A6B-3ED3348C0493}"/>
              </a:ext>
            </a:extLst>
          </p:cNvPr>
          <p:cNvSpPr/>
          <p:nvPr/>
        </p:nvSpPr>
        <p:spPr>
          <a:xfrm>
            <a:off x="5233783" y="2008204"/>
            <a:ext cx="3272684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0B67E-F4D3-66EF-D7AA-0386ECE8C4DE}"/>
              </a:ext>
            </a:extLst>
          </p:cNvPr>
          <p:cNvSpPr/>
          <p:nvPr/>
        </p:nvSpPr>
        <p:spPr>
          <a:xfrm>
            <a:off x="1777492" y="4375621"/>
            <a:ext cx="5053083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C748DD-6B7B-DB23-4035-684E65EA5E4C}"/>
              </a:ext>
            </a:extLst>
          </p:cNvPr>
          <p:cNvSpPr/>
          <p:nvPr/>
        </p:nvSpPr>
        <p:spPr>
          <a:xfrm>
            <a:off x="6958218" y="4391765"/>
            <a:ext cx="500453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9AA20A-5614-0C70-F23D-07524DB0FC5F}"/>
              </a:ext>
            </a:extLst>
          </p:cNvPr>
          <p:cNvSpPr txBox="1"/>
          <p:nvPr/>
        </p:nvSpPr>
        <p:spPr>
          <a:xfrm>
            <a:off x="2013238" y="2008204"/>
            <a:ext cx="2790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Age Group Distribution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(Population Pyramid)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E79A38-A421-208B-7AD0-D6D675490DA0}"/>
              </a:ext>
            </a:extLst>
          </p:cNvPr>
          <p:cNvSpPr txBox="1"/>
          <p:nvPr/>
        </p:nvSpPr>
        <p:spPr>
          <a:xfrm>
            <a:off x="5330081" y="1964156"/>
            <a:ext cx="2875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LOS Category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(Stacked Bar Chart)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0A380A-B036-D443-C169-E697B3826A84}"/>
              </a:ext>
            </a:extLst>
          </p:cNvPr>
          <p:cNvSpPr txBox="1"/>
          <p:nvPr/>
        </p:nvSpPr>
        <p:spPr>
          <a:xfrm>
            <a:off x="1792496" y="4339339"/>
            <a:ext cx="503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Admission Heatmap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(Day vs Hour)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ACF5AA-0DB8-30EA-0CBF-A90BEDCF50DF}"/>
              </a:ext>
            </a:extLst>
          </p:cNvPr>
          <p:cNvSpPr txBox="1"/>
          <p:nvPr/>
        </p:nvSpPr>
        <p:spPr>
          <a:xfrm>
            <a:off x="8134129" y="4355245"/>
            <a:ext cx="2652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Patient Outcome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(Funnel chart)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459B62-D0AA-AAEF-42F9-C4C11EC79D75}"/>
              </a:ext>
            </a:extLst>
          </p:cNvPr>
          <p:cNvSpPr txBox="1"/>
          <p:nvPr/>
        </p:nvSpPr>
        <p:spPr>
          <a:xfrm>
            <a:off x="9131613" y="1974413"/>
            <a:ext cx="240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en-IN" b="1" dirty="0">
                <a:solidFill>
                  <a:schemeClr val="bg1"/>
                </a:solidFill>
              </a:rPr>
              <a:t>iagnosis Distribution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(Treemap)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718A1C-F03D-A827-8589-6279DFC12DFD}"/>
              </a:ext>
            </a:extLst>
          </p:cNvPr>
          <p:cNvCxnSpPr>
            <a:cxnSpLocks/>
          </p:cNvCxnSpPr>
          <p:nvPr/>
        </p:nvCxnSpPr>
        <p:spPr>
          <a:xfrm>
            <a:off x="8977390" y="818008"/>
            <a:ext cx="445216" cy="901"/>
          </a:xfrm>
          <a:prstGeom prst="line">
            <a:avLst/>
          </a:prstGeom>
          <a:ln w="38100">
            <a:solidFill>
              <a:srgbClr val="9DC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5BE40E2-9D18-E255-51DB-D440509D3D30}"/>
              </a:ext>
            </a:extLst>
          </p:cNvPr>
          <p:cNvSpPr txBox="1"/>
          <p:nvPr/>
        </p:nvSpPr>
        <p:spPr>
          <a:xfrm>
            <a:off x="117572" y="5419416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Age Group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FFE0549-7B37-1693-2968-7D4A38057779}"/>
              </a:ext>
            </a:extLst>
          </p:cNvPr>
          <p:cNvSpPr/>
          <p:nvPr/>
        </p:nvSpPr>
        <p:spPr>
          <a:xfrm>
            <a:off x="207877" y="5698615"/>
            <a:ext cx="1251146" cy="244262"/>
          </a:xfrm>
          <a:prstGeom prst="roundRect">
            <a:avLst>
              <a:gd name="adj" fmla="val 2836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66DB60-01A7-054A-6CE6-7C214386300C}"/>
              </a:ext>
            </a:extLst>
          </p:cNvPr>
          <p:cNvSpPr txBox="1"/>
          <p:nvPr/>
        </p:nvSpPr>
        <p:spPr>
          <a:xfrm>
            <a:off x="182739" y="5682725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F6891BC-62D2-1AFB-E320-A6033A40E1D5}"/>
              </a:ext>
            </a:extLst>
          </p:cNvPr>
          <p:cNvSpPr/>
          <p:nvPr/>
        </p:nvSpPr>
        <p:spPr>
          <a:xfrm>
            <a:off x="8700769" y="2022300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9" name="Picture 88" descr="Patient ">
            <a:extLst>
              <a:ext uri="{FF2B5EF4-FFF2-40B4-BE49-F238E27FC236}">
                <a16:creationId xmlns:a16="http://schemas.microsoft.com/office/drawing/2014/main" id="{7EAF3F19-9660-273C-7079-1B548D7BA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903" y="1435205"/>
            <a:ext cx="333070" cy="333070"/>
          </a:xfrm>
          <a:prstGeom prst="rect">
            <a:avLst/>
          </a:prstGeom>
        </p:spPr>
      </p:pic>
      <p:pic>
        <p:nvPicPr>
          <p:cNvPr id="91" name="Picture 90" descr="Back in time ">
            <a:extLst>
              <a:ext uri="{FF2B5EF4-FFF2-40B4-BE49-F238E27FC236}">
                <a16:creationId xmlns:a16="http://schemas.microsoft.com/office/drawing/2014/main" id="{1A070663-BCB9-3B7B-ED4E-5F67FA028C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809" y="1455869"/>
            <a:ext cx="333070" cy="333070"/>
          </a:xfrm>
          <a:prstGeom prst="rect">
            <a:avLst/>
          </a:prstGeom>
        </p:spPr>
      </p:pic>
      <p:pic>
        <p:nvPicPr>
          <p:cNvPr id="92" name="Picture 91" descr="Ambulance ">
            <a:extLst>
              <a:ext uri="{FF2B5EF4-FFF2-40B4-BE49-F238E27FC236}">
                <a16:creationId xmlns:a16="http://schemas.microsoft.com/office/drawing/2014/main" id="{3234FF2F-ADC2-D28A-9C56-8EBCE88DD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081" y="1428135"/>
            <a:ext cx="333069" cy="333069"/>
          </a:xfrm>
          <a:prstGeom prst="rect">
            <a:avLst/>
          </a:prstGeom>
        </p:spPr>
      </p:pic>
      <p:pic>
        <p:nvPicPr>
          <p:cNvPr id="93" name="Picture 92" descr="Weekend ">
            <a:extLst>
              <a:ext uri="{FF2B5EF4-FFF2-40B4-BE49-F238E27FC236}">
                <a16:creationId xmlns:a16="http://schemas.microsoft.com/office/drawing/2014/main" id="{D04EBCAD-07AF-1D26-81B4-E4EC1CDC35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2530" y="1458802"/>
            <a:ext cx="378923" cy="333069"/>
          </a:xfrm>
          <a:prstGeom prst="rect">
            <a:avLst/>
          </a:prstGeom>
        </p:spPr>
      </p:pic>
      <p:pic>
        <p:nvPicPr>
          <p:cNvPr id="94" name="Picture 93" descr="Patient ">
            <a:extLst>
              <a:ext uri="{FF2B5EF4-FFF2-40B4-BE49-F238E27FC236}">
                <a16:creationId xmlns:a16="http://schemas.microsoft.com/office/drawing/2014/main" id="{04613AD6-7CA3-451A-F60E-1D27FEC370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5061" y="1507253"/>
            <a:ext cx="282739" cy="282739"/>
          </a:xfrm>
          <a:prstGeom prst="rect">
            <a:avLst/>
          </a:prstGeom>
        </p:spPr>
      </p:pic>
      <p:pic>
        <p:nvPicPr>
          <p:cNvPr id="95" name="Picture 94" descr="Recovery ">
            <a:extLst>
              <a:ext uri="{FF2B5EF4-FFF2-40B4-BE49-F238E27FC236}">
                <a16:creationId xmlns:a16="http://schemas.microsoft.com/office/drawing/2014/main" id="{7FCDE666-C3B3-A96C-A75B-61D8D93C8B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5105" y="1449222"/>
            <a:ext cx="358889" cy="3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0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FB73-FF84-1385-C34C-87FA77B4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A10196-7EC3-3753-70FE-1B8A61574791}"/>
              </a:ext>
            </a:extLst>
          </p:cNvPr>
          <p:cNvSpPr/>
          <p:nvPr/>
        </p:nvSpPr>
        <p:spPr>
          <a:xfrm>
            <a:off x="101600" y="142875"/>
            <a:ext cx="11988800" cy="65917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572A85-8A43-97EB-E6D6-3582CC49DB63}"/>
              </a:ext>
            </a:extLst>
          </p:cNvPr>
          <p:cNvCxnSpPr>
            <a:cxnSpLocks/>
          </p:cNvCxnSpPr>
          <p:nvPr/>
        </p:nvCxnSpPr>
        <p:spPr>
          <a:xfrm>
            <a:off x="101600" y="933450"/>
            <a:ext cx="11988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78144C-85D5-DBE1-300E-83D6A78B8B3C}"/>
              </a:ext>
            </a:extLst>
          </p:cNvPr>
          <p:cNvSpPr txBox="1"/>
          <p:nvPr/>
        </p:nvSpPr>
        <p:spPr>
          <a:xfrm>
            <a:off x="566739" y="253811"/>
            <a:ext cx="513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MedTrack_DV </a:t>
            </a:r>
          </a:p>
          <a:p>
            <a:r>
              <a:rPr lang="en-IN" dirty="0">
                <a:solidFill>
                  <a:schemeClr val="bg1"/>
                </a:solidFill>
              </a:rPr>
              <a:t>Hospital Operations &amp; Patient Analytics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7454D-D959-53FA-0AC8-5C42B6778FFF}"/>
              </a:ext>
            </a:extLst>
          </p:cNvPr>
          <p:cNvSpPr txBox="1"/>
          <p:nvPr/>
        </p:nvSpPr>
        <p:spPr>
          <a:xfrm>
            <a:off x="7632698" y="327919"/>
            <a:ext cx="819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Hospital Overview </a:t>
            </a:r>
            <a:endParaRPr lang="en-IN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96AC8-5C2D-EAAE-CAB0-7A3C14588160}"/>
              </a:ext>
            </a:extLst>
          </p:cNvPr>
          <p:cNvSpPr txBox="1"/>
          <p:nvPr/>
        </p:nvSpPr>
        <p:spPr>
          <a:xfrm>
            <a:off x="8886824" y="346145"/>
            <a:ext cx="735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Patient 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35CBC-5CD8-791E-8596-0E56B7378ED6}"/>
              </a:ext>
            </a:extLst>
          </p:cNvPr>
          <p:cNvSpPr txBox="1"/>
          <p:nvPr/>
        </p:nvSpPr>
        <p:spPr>
          <a:xfrm>
            <a:off x="10040931" y="335446"/>
            <a:ext cx="97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75000"/>
                  </a:schemeClr>
                </a:solidFill>
              </a:rPr>
              <a:t>Department Analytics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EEA631-7134-D769-9599-A30FF496DBB9}"/>
              </a:ext>
            </a:extLst>
          </p:cNvPr>
          <p:cNvSpPr txBox="1"/>
          <p:nvPr/>
        </p:nvSpPr>
        <p:spPr>
          <a:xfrm>
            <a:off x="11300020" y="327919"/>
            <a:ext cx="844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Resource Utilization</a:t>
            </a:r>
          </a:p>
        </p:txBody>
      </p:sp>
      <p:pic>
        <p:nvPicPr>
          <p:cNvPr id="3" name="Picture 2" descr="Medical sign ">
            <a:extLst>
              <a:ext uri="{FF2B5EF4-FFF2-40B4-BE49-F238E27FC236}">
                <a16:creationId xmlns:a16="http://schemas.microsoft.com/office/drawing/2014/main" id="{CA095332-EFB1-747A-F75B-337EE4822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9" y="382408"/>
            <a:ext cx="351035" cy="351035"/>
          </a:xfrm>
          <a:prstGeom prst="rect">
            <a:avLst/>
          </a:prstGeom>
        </p:spPr>
      </p:pic>
      <p:pic>
        <p:nvPicPr>
          <p:cNvPr id="4" name="Picture 3" descr="Business report ">
            <a:extLst>
              <a:ext uri="{FF2B5EF4-FFF2-40B4-BE49-F238E27FC236}">
                <a16:creationId xmlns:a16="http://schemas.microsoft.com/office/drawing/2014/main" id="{72D9621F-83AD-BFA2-A477-9AD250318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68" y="344882"/>
            <a:ext cx="426085" cy="426085"/>
          </a:xfrm>
          <a:prstGeom prst="rect">
            <a:avLst/>
          </a:prstGeom>
        </p:spPr>
      </p:pic>
      <p:pic>
        <p:nvPicPr>
          <p:cNvPr id="6" name="Picture 5" descr="Patient ">
            <a:extLst>
              <a:ext uri="{FF2B5EF4-FFF2-40B4-BE49-F238E27FC236}">
                <a16:creationId xmlns:a16="http://schemas.microsoft.com/office/drawing/2014/main" id="{EFD88654-D6A9-D373-EAA5-7C2A9C8F1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66" y="311699"/>
            <a:ext cx="426080" cy="426080"/>
          </a:xfrm>
          <a:prstGeom prst="rect">
            <a:avLst/>
          </a:prstGeom>
        </p:spPr>
      </p:pic>
      <p:pic>
        <p:nvPicPr>
          <p:cNvPr id="7" name="Picture 6" descr="Corporation ">
            <a:extLst>
              <a:ext uri="{FF2B5EF4-FFF2-40B4-BE49-F238E27FC236}">
                <a16:creationId xmlns:a16="http://schemas.microsoft.com/office/drawing/2014/main" id="{9CC37942-A29C-8EED-DC56-6BF76ECC4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51" y="335446"/>
            <a:ext cx="425996" cy="425996"/>
          </a:xfrm>
          <a:prstGeom prst="rect">
            <a:avLst/>
          </a:prstGeom>
        </p:spPr>
      </p:pic>
      <p:pic>
        <p:nvPicPr>
          <p:cNvPr id="11" name="Picture 10" descr="Utilization ">
            <a:extLst>
              <a:ext uri="{FF2B5EF4-FFF2-40B4-BE49-F238E27FC236}">
                <a16:creationId xmlns:a16="http://schemas.microsoft.com/office/drawing/2014/main" id="{B797C9AA-EBDC-F0A3-4285-E2538E897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548" y="363937"/>
            <a:ext cx="426078" cy="42607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79CCD5F-FB81-7B2D-387B-F2B13450AC83}"/>
              </a:ext>
            </a:extLst>
          </p:cNvPr>
          <p:cNvSpPr/>
          <p:nvPr/>
        </p:nvSpPr>
        <p:spPr>
          <a:xfrm>
            <a:off x="101600" y="933450"/>
            <a:ext cx="1533845" cy="5801178"/>
          </a:xfrm>
          <a:prstGeom prst="rect">
            <a:avLst/>
          </a:prstGeom>
          <a:solidFill>
            <a:srgbClr val="E2EDFD">
              <a:alpha val="75000"/>
            </a:srgbClr>
          </a:solidFill>
          <a:ln w="9525">
            <a:solidFill>
              <a:schemeClr val="dk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2590FE-B35E-7D90-6086-A1EA549C1069}"/>
              </a:ext>
            </a:extLst>
          </p:cNvPr>
          <p:cNvSpPr txBox="1"/>
          <p:nvPr/>
        </p:nvSpPr>
        <p:spPr>
          <a:xfrm>
            <a:off x="61814" y="919095"/>
            <a:ext cx="138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Navigation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ADD232-E226-B56E-E319-9066A67D2B22}"/>
              </a:ext>
            </a:extLst>
          </p:cNvPr>
          <p:cNvCxnSpPr>
            <a:cxnSpLocks/>
          </p:cNvCxnSpPr>
          <p:nvPr/>
        </p:nvCxnSpPr>
        <p:spPr>
          <a:xfrm>
            <a:off x="101600" y="2428875"/>
            <a:ext cx="15065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DB17778-5366-C734-5952-CFBF57698741}"/>
              </a:ext>
            </a:extLst>
          </p:cNvPr>
          <p:cNvSpPr txBox="1"/>
          <p:nvPr/>
        </p:nvSpPr>
        <p:spPr>
          <a:xfrm>
            <a:off x="222151" y="1296611"/>
            <a:ext cx="1251146" cy="306467"/>
          </a:xfrm>
          <a:prstGeom prst="roundRect">
            <a:avLst>
              <a:gd name="adj" fmla="val 16667"/>
            </a:avLst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Overview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CB8C5A-A96A-80F1-5DCD-EA8B95B2444D}"/>
              </a:ext>
            </a:extLst>
          </p:cNvPr>
          <p:cNvSpPr txBox="1"/>
          <p:nvPr/>
        </p:nvSpPr>
        <p:spPr>
          <a:xfrm>
            <a:off x="222151" y="1546046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Patient Flow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8235AB-A6D5-2E09-2BE6-331AD6CBE46E}"/>
              </a:ext>
            </a:extLst>
          </p:cNvPr>
          <p:cNvSpPr txBox="1"/>
          <p:nvPr/>
        </p:nvSpPr>
        <p:spPr>
          <a:xfrm>
            <a:off x="222150" y="1787325"/>
            <a:ext cx="1251146" cy="306467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Department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835D98-13FD-471B-61D2-F9D8BE3D5725}"/>
              </a:ext>
            </a:extLst>
          </p:cNvPr>
          <p:cNvSpPr txBox="1"/>
          <p:nvPr/>
        </p:nvSpPr>
        <p:spPr>
          <a:xfrm>
            <a:off x="222149" y="2052267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65A12-1F57-AAAF-6FBC-02270B004E06}"/>
              </a:ext>
            </a:extLst>
          </p:cNvPr>
          <p:cNvSpPr txBox="1"/>
          <p:nvPr/>
        </p:nvSpPr>
        <p:spPr>
          <a:xfrm>
            <a:off x="81853" y="2573165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Filters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F5B10D-0BC5-81D8-E6E3-063CE3757C50}"/>
              </a:ext>
            </a:extLst>
          </p:cNvPr>
          <p:cNvSpPr txBox="1"/>
          <p:nvPr/>
        </p:nvSpPr>
        <p:spPr>
          <a:xfrm>
            <a:off x="101600" y="2983333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Hospital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6EE4DA-61A7-248D-1833-809121C314C7}"/>
              </a:ext>
            </a:extLst>
          </p:cNvPr>
          <p:cNvSpPr/>
          <p:nvPr/>
        </p:nvSpPr>
        <p:spPr>
          <a:xfrm>
            <a:off x="195163" y="3291110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737F9C-9AF7-15E4-64B3-BE49D7267774}"/>
              </a:ext>
            </a:extLst>
          </p:cNvPr>
          <p:cNvSpPr txBox="1"/>
          <p:nvPr/>
        </p:nvSpPr>
        <p:spPr>
          <a:xfrm>
            <a:off x="175419" y="327474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7856B7-EC39-C70F-52D6-11F4CF766404}"/>
              </a:ext>
            </a:extLst>
          </p:cNvPr>
          <p:cNvSpPr txBox="1"/>
          <p:nvPr/>
        </p:nvSpPr>
        <p:spPr>
          <a:xfrm>
            <a:off x="117572" y="3582518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Department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298CAE4-5902-1736-E972-631E09A1007E}"/>
              </a:ext>
            </a:extLst>
          </p:cNvPr>
          <p:cNvSpPr/>
          <p:nvPr/>
        </p:nvSpPr>
        <p:spPr>
          <a:xfrm>
            <a:off x="211135" y="3890295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139C7E-75AD-526D-05CA-54EF7C5CDBB8}"/>
              </a:ext>
            </a:extLst>
          </p:cNvPr>
          <p:cNvSpPr txBox="1"/>
          <p:nvPr/>
        </p:nvSpPr>
        <p:spPr>
          <a:xfrm>
            <a:off x="191391" y="3873926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BD9981-D7DD-CFD1-4237-BFA1C8E60A50}"/>
              </a:ext>
            </a:extLst>
          </p:cNvPr>
          <p:cNvSpPr txBox="1"/>
          <p:nvPr/>
        </p:nvSpPr>
        <p:spPr>
          <a:xfrm>
            <a:off x="117572" y="4185451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Date Range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0F400FB-421E-3B53-099A-9410631C7AFF}"/>
              </a:ext>
            </a:extLst>
          </p:cNvPr>
          <p:cNvSpPr/>
          <p:nvPr/>
        </p:nvSpPr>
        <p:spPr>
          <a:xfrm>
            <a:off x="211135" y="4493228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B078B1-712A-68CE-D272-B3D00F55ABE1}"/>
              </a:ext>
            </a:extLst>
          </p:cNvPr>
          <p:cNvSpPr txBox="1"/>
          <p:nvPr/>
        </p:nvSpPr>
        <p:spPr>
          <a:xfrm>
            <a:off x="191391" y="4476859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A81E6F-8992-2F33-A6D0-9090CC00F7E3}"/>
              </a:ext>
            </a:extLst>
          </p:cNvPr>
          <p:cNvSpPr txBox="1"/>
          <p:nvPr/>
        </p:nvSpPr>
        <p:spPr>
          <a:xfrm>
            <a:off x="209988" y="4996790"/>
            <a:ext cx="1267729" cy="377904"/>
          </a:xfrm>
          <a:prstGeom prst="roundRect">
            <a:avLst>
              <a:gd name="adj" fmla="val 12005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Clear Filters</a:t>
            </a:r>
            <a:endParaRPr lang="en-IN" sz="1700" b="1" dirty="0">
              <a:solidFill>
                <a:schemeClr val="bg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6A7539C-D51A-CD44-30C9-BB4D22E155C2}"/>
              </a:ext>
            </a:extLst>
          </p:cNvPr>
          <p:cNvSpPr/>
          <p:nvPr/>
        </p:nvSpPr>
        <p:spPr>
          <a:xfrm>
            <a:off x="1777492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DE78929-F8F5-3930-EAF6-16FDC1FA54E7}"/>
              </a:ext>
            </a:extLst>
          </p:cNvPr>
          <p:cNvSpPr/>
          <p:nvPr/>
        </p:nvSpPr>
        <p:spPr>
          <a:xfrm>
            <a:off x="3505637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EEBE111-635B-7513-BF3E-9FC9E0EA7623}"/>
              </a:ext>
            </a:extLst>
          </p:cNvPr>
          <p:cNvSpPr/>
          <p:nvPr/>
        </p:nvSpPr>
        <p:spPr>
          <a:xfrm>
            <a:off x="5233782" y="1034052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315AE28-E37F-18BB-AA06-8C9B3233DDD3}"/>
              </a:ext>
            </a:extLst>
          </p:cNvPr>
          <p:cNvSpPr/>
          <p:nvPr/>
        </p:nvSpPr>
        <p:spPr>
          <a:xfrm>
            <a:off x="6958219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6026E83-7537-6272-3282-A5019BA1D7D1}"/>
              </a:ext>
            </a:extLst>
          </p:cNvPr>
          <p:cNvSpPr/>
          <p:nvPr/>
        </p:nvSpPr>
        <p:spPr>
          <a:xfrm>
            <a:off x="8686364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20D376B-B326-D3B6-5514-6C5CBB21D455}"/>
              </a:ext>
            </a:extLst>
          </p:cNvPr>
          <p:cNvSpPr/>
          <p:nvPr/>
        </p:nvSpPr>
        <p:spPr>
          <a:xfrm>
            <a:off x="10388382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BBD24D-3002-1C7F-A82A-95F2631CAFF4}"/>
              </a:ext>
            </a:extLst>
          </p:cNvPr>
          <p:cNvSpPr txBox="1"/>
          <p:nvPr/>
        </p:nvSpPr>
        <p:spPr>
          <a:xfrm>
            <a:off x="1792495" y="1006198"/>
            <a:ext cx="1507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Total Departments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AA1AE0-5717-E942-CE50-0E11A1A34E29}"/>
              </a:ext>
            </a:extLst>
          </p:cNvPr>
          <p:cNvSpPr txBox="1"/>
          <p:nvPr/>
        </p:nvSpPr>
        <p:spPr>
          <a:xfrm>
            <a:off x="10341110" y="1015724"/>
            <a:ext cx="166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Overload Departments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720FF6-50DE-B707-CAAA-F5DE2DCFFCA1}"/>
              </a:ext>
            </a:extLst>
          </p:cNvPr>
          <p:cNvSpPr txBox="1"/>
          <p:nvPr/>
        </p:nvSpPr>
        <p:spPr>
          <a:xfrm>
            <a:off x="8682656" y="1026663"/>
            <a:ext cx="1533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Average LOS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4206EA-51D9-FCA3-E597-E9C90157822F}"/>
              </a:ext>
            </a:extLst>
          </p:cNvPr>
          <p:cNvSpPr txBox="1"/>
          <p:nvPr/>
        </p:nvSpPr>
        <p:spPr>
          <a:xfrm>
            <a:off x="6918436" y="1025782"/>
            <a:ext cx="1625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Patients Per Staff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27868C-2587-FBDF-B991-A2A728A7E1CA}"/>
              </a:ext>
            </a:extLst>
          </p:cNvPr>
          <p:cNvSpPr txBox="1"/>
          <p:nvPr/>
        </p:nvSpPr>
        <p:spPr>
          <a:xfrm>
            <a:off x="5095177" y="1025782"/>
            <a:ext cx="1808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Patients Per Nurse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4E3F3C-2C4B-EC87-9884-234C357D0F30}"/>
              </a:ext>
            </a:extLst>
          </p:cNvPr>
          <p:cNvSpPr txBox="1"/>
          <p:nvPr/>
        </p:nvSpPr>
        <p:spPr>
          <a:xfrm>
            <a:off x="3490805" y="1015724"/>
            <a:ext cx="1589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Dept. Admission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0BEEFFD-B58B-708D-8253-759932197DA6}"/>
              </a:ext>
            </a:extLst>
          </p:cNvPr>
          <p:cNvCxnSpPr>
            <a:cxnSpLocks/>
          </p:cNvCxnSpPr>
          <p:nvPr/>
        </p:nvCxnSpPr>
        <p:spPr>
          <a:xfrm>
            <a:off x="10130797" y="807810"/>
            <a:ext cx="791817" cy="0"/>
          </a:xfrm>
          <a:prstGeom prst="line">
            <a:avLst/>
          </a:prstGeom>
          <a:ln w="38100">
            <a:solidFill>
              <a:srgbClr val="9DC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847CC86-E04B-8941-159A-A482C6C51FB7}"/>
              </a:ext>
            </a:extLst>
          </p:cNvPr>
          <p:cNvSpPr/>
          <p:nvPr/>
        </p:nvSpPr>
        <p:spPr>
          <a:xfrm>
            <a:off x="1777492" y="2047134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F435204-8540-C21E-E4E9-DB0E942D967B}"/>
              </a:ext>
            </a:extLst>
          </p:cNvPr>
          <p:cNvSpPr/>
          <p:nvPr/>
        </p:nvSpPr>
        <p:spPr>
          <a:xfrm>
            <a:off x="5233783" y="2008204"/>
            <a:ext cx="3272684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6981F07-32DC-7458-275E-4599C78FD347}"/>
              </a:ext>
            </a:extLst>
          </p:cNvPr>
          <p:cNvSpPr/>
          <p:nvPr/>
        </p:nvSpPr>
        <p:spPr>
          <a:xfrm>
            <a:off x="1777492" y="4375621"/>
            <a:ext cx="5053083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B88C1F8-E747-E0E5-6398-8343EDD3A826}"/>
              </a:ext>
            </a:extLst>
          </p:cNvPr>
          <p:cNvSpPr/>
          <p:nvPr/>
        </p:nvSpPr>
        <p:spPr>
          <a:xfrm>
            <a:off x="6958218" y="4391765"/>
            <a:ext cx="500453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219FC6-C997-059C-567F-2F7B82323958}"/>
              </a:ext>
            </a:extLst>
          </p:cNvPr>
          <p:cNvSpPr txBox="1"/>
          <p:nvPr/>
        </p:nvSpPr>
        <p:spPr>
          <a:xfrm>
            <a:off x="2013238" y="2008204"/>
            <a:ext cx="2790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Admissions by Department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(Horizontal Bar Chart)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BE06C2-F198-EFEB-D6F9-2849FD6CA41C}"/>
              </a:ext>
            </a:extLst>
          </p:cNvPr>
          <p:cNvSpPr txBox="1"/>
          <p:nvPr/>
        </p:nvSpPr>
        <p:spPr>
          <a:xfrm>
            <a:off x="5327629" y="2022300"/>
            <a:ext cx="3070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Patients per Nurse by Department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</a:rPr>
              <a:t>(Dot plot)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AE6463-C94C-F8DA-A086-84E271932645}"/>
              </a:ext>
            </a:extLst>
          </p:cNvPr>
          <p:cNvSpPr txBox="1"/>
          <p:nvPr/>
        </p:nvSpPr>
        <p:spPr>
          <a:xfrm>
            <a:off x="1792496" y="4339339"/>
            <a:ext cx="503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Average Length of Stay by Department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(Bar Chart)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83C04B-454B-46CB-AD02-D7B0FAE1810A}"/>
              </a:ext>
            </a:extLst>
          </p:cNvPr>
          <p:cNvSpPr txBox="1"/>
          <p:nvPr/>
        </p:nvSpPr>
        <p:spPr>
          <a:xfrm>
            <a:off x="6987627" y="4355245"/>
            <a:ext cx="493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Readmission Rate by Departments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(Bar chart)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B89497-A148-2AE3-1C90-9EC57996D30C}"/>
              </a:ext>
            </a:extLst>
          </p:cNvPr>
          <p:cNvSpPr txBox="1"/>
          <p:nvPr/>
        </p:nvSpPr>
        <p:spPr>
          <a:xfrm>
            <a:off x="9131613" y="1974413"/>
            <a:ext cx="240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Doctor Productivity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(Scatter Plot)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354B4E3-4042-DE69-BA70-448C5E0E9F5E}"/>
              </a:ext>
            </a:extLst>
          </p:cNvPr>
          <p:cNvSpPr/>
          <p:nvPr/>
        </p:nvSpPr>
        <p:spPr>
          <a:xfrm>
            <a:off x="8700769" y="2022300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9" name="Picture 88" descr="Hospital ">
            <a:extLst>
              <a:ext uri="{FF2B5EF4-FFF2-40B4-BE49-F238E27FC236}">
                <a16:creationId xmlns:a16="http://schemas.microsoft.com/office/drawing/2014/main" id="{124D653B-5037-794B-4B52-175BAA6CD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059" y="1425581"/>
            <a:ext cx="333071" cy="333071"/>
          </a:xfrm>
          <a:prstGeom prst="rect">
            <a:avLst/>
          </a:prstGeom>
        </p:spPr>
      </p:pic>
      <p:pic>
        <p:nvPicPr>
          <p:cNvPr id="91" name="Picture 90" descr="Patient ">
            <a:extLst>
              <a:ext uri="{FF2B5EF4-FFF2-40B4-BE49-F238E27FC236}">
                <a16:creationId xmlns:a16="http://schemas.microsoft.com/office/drawing/2014/main" id="{69B64C69-4358-9D14-F883-2BE93752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05" y="1418177"/>
            <a:ext cx="333070" cy="333070"/>
          </a:xfrm>
          <a:prstGeom prst="rect">
            <a:avLst/>
          </a:prstGeom>
        </p:spPr>
      </p:pic>
      <p:pic>
        <p:nvPicPr>
          <p:cNvPr id="92" name="Picture 91" descr="Nurse ">
            <a:extLst>
              <a:ext uri="{FF2B5EF4-FFF2-40B4-BE49-F238E27FC236}">
                <a16:creationId xmlns:a16="http://schemas.microsoft.com/office/drawing/2014/main" id="{FFFC95B0-AE63-6A5D-D3D8-BB0D0D9F9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3899" y="1445507"/>
            <a:ext cx="336370" cy="336370"/>
          </a:xfrm>
          <a:prstGeom prst="rect">
            <a:avLst/>
          </a:prstGeom>
        </p:spPr>
      </p:pic>
      <p:pic>
        <p:nvPicPr>
          <p:cNvPr id="94" name="Picture 93" descr="Patient ">
            <a:extLst>
              <a:ext uri="{FF2B5EF4-FFF2-40B4-BE49-F238E27FC236}">
                <a16:creationId xmlns:a16="http://schemas.microsoft.com/office/drawing/2014/main" id="{10C29E8D-C293-0C6A-EE29-2952BB87F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769" y="1447157"/>
            <a:ext cx="333070" cy="333070"/>
          </a:xfrm>
          <a:prstGeom prst="rect">
            <a:avLst/>
          </a:prstGeom>
        </p:spPr>
      </p:pic>
      <p:pic>
        <p:nvPicPr>
          <p:cNvPr id="96" name="Picture 95" descr="Back in time ">
            <a:extLst>
              <a:ext uri="{FF2B5EF4-FFF2-40B4-BE49-F238E27FC236}">
                <a16:creationId xmlns:a16="http://schemas.microsoft.com/office/drawing/2014/main" id="{52E43A35-D7D9-CF6B-6986-478CD1713B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5140" y="1447157"/>
            <a:ext cx="333070" cy="333070"/>
          </a:xfrm>
          <a:prstGeom prst="rect">
            <a:avLst/>
          </a:prstGeom>
        </p:spPr>
      </p:pic>
      <p:pic>
        <p:nvPicPr>
          <p:cNvPr id="98" name="Picture 97" descr="Caution ">
            <a:extLst>
              <a:ext uri="{FF2B5EF4-FFF2-40B4-BE49-F238E27FC236}">
                <a16:creationId xmlns:a16="http://schemas.microsoft.com/office/drawing/2014/main" id="{EBC50050-4D90-33F2-574F-D80B4ED3B7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8185" y="1440067"/>
            <a:ext cx="333070" cy="3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7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C9F9-F7E7-0B79-0D9C-3ECF40E2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51238C-EE3C-E0C6-6E0E-8B974B6CFBBC}"/>
              </a:ext>
            </a:extLst>
          </p:cNvPr>
          <p:cNvSpPr/>
          <p:nvPr/>
        </p:nvSpPr>
        <p:spPr>
          <a:xfrm>
            <a:off x="101600" y="142875"/>
            <a:ext cx="11988800" cy="65917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EF9E7-30E4-3392-2CCB-A15166AAF52F}"/>
              </a:ext>
            </a:extLst>
          </p:cNvPr>
          <p:cNvCxnSpPr>
            <a:cxnSpLocks/>
          </p:cNvCxnSpPr>
          <p:nvPr/>
        </p:nvCxnSpPr>
        <p:spPr>
          <a:xfrm>
            <a:off x="101600" y="933450"/>
            <a:ext cx="11988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5EAE4D8-AD67-21CE-BDAF-C0EB9C9BBFC5}"/>
              </a:ext>
            </a:extLst>
          </p:cNvPr>
          <p:cNvSpPr txBox="1"/>
          <p:nvPr/>
        </p:nvSpPr>
        <p:spPr>
          <a:xfrm>
            <a:off x="566739" y="253811"/>
            <a:ext cx="5133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MedTrack_DV </a:t>
            </a:r>
          </a:p>
          <a:p>
            <a:r>
              <a:rPr lang="en-IN" dirty="0">
                <a:solidFill>
                  <a:schemeClr val="bg1"/>
                </a:solidFill>
              </a:rPr>
              <a:t>Hospital Operations &amp; Patient Analytics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9DA796-319D-E0DF-3636-97574558E2D6}"/>
              </a:ext>
            </a:extLst>
          </p:cNvPr>
          <p:cNvSpPr txBox="1"/>
          <p:nvPr/>
        </p:nvSpPr>
        <p:spPr>
          <a:xfrm>
            <a:off x="7632698" y="327919"/>
            <a:ext cx="819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Hospital Overview </a:t>
            </a:r>
            <a:endParaRPr lang="en-IN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CB203-0E4F-2D36-591C-693F91DCD6E5}"/>
              </a:ext>
            </a:extLst>
          </p:cNvPr>
          <p:cNvSpPr txBox="1"/>
          <p:nvPr/>
        </p:nvSpPr>
        <p:spPr>
          <a:xfrm>
            <a:off x="8886824" y="346145"/>
            <a:ext cx="735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Patient 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CCD42-650F-C868-122D-1D77E177C486}"/>
              </a:ext>
            </a:extLst>
          </p:cNvPr>
          <p:cNvSpPr txBox="1"/>
          <p:nvPr/>
        </p:nvSpPr>
        <p:spPr>
          <a:xfrm>
            <a:off x="10040931" y="335446"/>
            <a:ext cx="97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Department Analytics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8BC3E-7BF4-8FFB-8B5E-640C28923627}"/>
              </a:ext>
            </a:extLst>
          </p:cNvPr>
          <p:cNvSpPr txBox="1"/>
          <p:nvPr/>
        </p:nvSpPr>
        <p:spPr>
          <a:xfrm>
            <a:off x="11300020" y="327919"/>
            <a:ext cx="844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75000"/>
                  </a:schemeClr>
                </a:solidFill>
              </a:rPr>
              <a:t>Resource Utilization</a:t>
            </a:r>
          </a:p>
        </p:txBody>
      </p:sp>
      <p:pic>
        <p:nvPicPr>
          <p:cNvPr id="3" name="Picture 2" descr="Medical sign ">
            <a:extLst>
              <a:ext uri="{FF2B5EF4-FFF2-40B4-BE49-F238E27FC236}">
                <a16:creationId xmlns:a16="http://schemas.microsoft.com/office/drawing/2014/main" id="{83B1D9F6-B38A-D293-C048-17B1FA04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9" y="382408"/>
            <a:ext cx="351035" cy="351035"/>
          </a:xfrm>
          <a:prstGeom prst="rect">
            <a:avLst/>
          </a:prstGeom>
        </p:spPr>
      </p:pic>
      <p:pic>
        <p:nvPicPr>
          <p:cNvPr id="4" name="Picture 3" descr="Business report ">
            <a:extLst>
              <a:ext uri="{FF2B5EF4-FFF2-40B4-BE49-F238E27FC236}">
                <a16:creationId xmlns:a16="http://schemas.microsoft.com/office/drawing/2014/main" id="{EF240A7C-CEAC-289A-5B9A-74B3DB37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68" y="344882"/>
            <a:ext cx="426085" cy="426085"/>
          </a:xfrm>
          <a:prstGeom prst="rect">
            <a:avLst/>
          </a:prstGeom>
        </p:spPr>
      </p:pic>
      <p:pic>
        <p:nvPicPr>
          <p:cNvPr id="6" name="Picture 5" descr="Patient ">
            <a:extLst>
              <a:ext uri="{FF2B5EF4-FFF2-40B4-BE49-F238E27FC236}">
                <a16:creationId xmlns:a16="http://schemas.microsoft.com/office/drawing/2014/main" id="{3D1A0E64-E335-750B-DCBF-210C9F790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66" y="311699"/>
            <a:ext cx="426080" cy="426080"/>
          </a:xfrm>
          <a:prstGeom prst="rect">
            <a:avLst/>
          </a:prstGeom>
        </p:spPr>
      </p:pic>
      <p:pic>
        <p:nvPicPr>
          <p:cNvPr id="7" name="Picture 6" descr="Corporation ">
            <a:extLst>
              <a:ext uri="{FF2B5EF4-FFF2-40B4-BE49-F238E27FC236}">
                <a16:creationId xmlns:a16="http://schemas.microsoft.com/office/drawing/2014/main" id="{222E52D5-0C78-A6AD-4F02-524765684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51" y="335446"/>
            <a:ext cx="425996" cy="425996"/>
          </a:xfrm>
          <a:prstGeom prst="rect">
            <a:avLst/>
          </a:prstGeom>
        </p:spPr>
      </p:pic>
      <p:pic>
        <p:nvPicPr>
          <p:cNvPr id="11" name="Picture 10" descr="Utilization ">
            <a:extLst>
              <a:ext uri="{FF2B5EF4-FFF2-40B4-BE49-F238E27FC236}">
                <a16:creationId xmlns:a16="http://schemas.microsoft.com/office/drawing/2014/main" id="{52547099-5AF0-551C-54B0-2F6E5E031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4548" y="363937"/>
            <a:ext cx="426078" cy="42607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5FC787D-2EA2-39CF-A06C-341A3F9461D5}"/>
              </a:ext>
            </a:extLst>
          </p:cNvPr>
          <p:cNvSpPr/>
          <p:nvPr/>
        </p:nvSpPr>
        <p:spPr>
          <a:xfrm>
            <a:off x="101600" y="933450"/>
            <a:ext cx="1533845" cy="5801178"/>
          </a:xfrm>
          <a:prstGeom prst="rect">
            <a:avLst/>
          </a:prstGeom>
          <a:solidFill>
            <a:srgbClr val="E2EDFD">
              <a:alpha val="75000"/>
            </a:srgbClr>
          </a:solidFill>
          <a:ln w="9525">
            <a:solidFill>
              <a:schemeClr val="dk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30687-E92A-94DE-BA9A-AFD0D6A7C44F}"/>
              </a:ext>
            </a:extLst>
          </p:cNvPr>
          <p:cNvSpPr txBox="1"/>
          <p:nvPr/>
        </p:nvSpPr>
        <p:spPr>
          <a:xfrm>
            <a:off x="61814" y="919095"/>
            <a:ext cx="138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Navigation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2A1364-F2DC-A903-ECA4-7C0FA0DFF2A8}"/>
              </a:ext>
            </a:extLst>
          </p:cNvPr>
          <p:cNvCxnSpPr>
            <a:cxnSpLocks/>
          </p:cNvCxnSpPr>
          <p:nvPr/>
        </p:nvCxnSpPr>
        <p:spPr>
          <a:xfrm>
            <a:off x="101600" y="2476500"/>
            <a:ext cx="15065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3D9FA42-B498-474F-18C8-682862F9AD4C}"/>
              </a:ext>
            </a:extLst>
          </p:cNvPr>
          <p:cNvSpPr txBox="1"/>
          <p:nvPr/>
        </p:nvSpPr>
        <p:spPr>
          <a:xfrm>
            <a:off x="222151" y="1296611"/>
            <a:ext cx="1251146" cy="306467"/>
          </a:xfrm>
          <a:prstGeom prst="roundRect">
            <a:avLst>
              <a:gd name="adj" fmla="val 16667"/>
            </a:avLst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Overview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E9B8C4-435E-1A60-A78D-E7BAD2222BD6}"/>
              </a:ext>
            </a:extLst>
          </p:cNvPr>
          <p:cNvSpPr txBox="1"/>
          <p:nvPr/>
        </p:nvSpPr>
        <p:spPr>
          <a:xfrm>
            <a:off x="222151" y="1546046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Patient Flow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4A8E8-E9E2-3600-5A82-0DFCC71BFA0B}"/>
              </a:ext>
            </a:extLst>
          </p:cNvPr>
          <p:cNvSpPr txBox="1"/>
          <p:nvPr/>
        </p:nvSpPr>
        <p:spPr>
          <a:xfrm>
            <a:off x="222150" y="1787325"/>
            <a:ext cx="1251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Department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05981D-EC63-C8B3-3D6D-8111B157B754}"/>
              </a:ext>
            </a:extLst>
          </p:cNvPr>
          <p:cNvSpPr txBox="1"/>
          <p:nvPr/>
        </p:nvSpPr>
        <p:spPr>
          <a:xfrm>
            <a:off x="222149" y="2052267"/>
            <a:ext cx="1251146" cy="306467"/>
          </a:xfrm>
          <a:prstGeom prst="roundRect">
            <a:avLst>
              <a:gd name="adj" fmla="val 22883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Resources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8C39C0-6745-AE22-6D60-F956611F0D8A}"/>
              </a:ext>
            </a:extLst>
          </p:cNvPr>
          <p:cNvSpPr txBox="1"/>
          <p:nvPr/>
        </p:nvSpPr>
        <p:spPr>
          <a:xfrm>
            <a:off x="81853" y="2573165"/>
            <a:ext cx="76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Filters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8BD4FE-ACC3-EA50-973A-55AC8162FED1}"/>
              </a:ext>
            </a:extLst>
          </p:cNvPr>
          <p:cNvSpPr txBox="1"/>
          <p:nvPr/>
        </p:nvSpPr>
        <p:spPr>
          <a:xfrm>
            <a:off x="101600" y="2983333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Hospital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6210197-DC8E-521B-F3EA-2FF2950AC6FA}"/>
              </a:ext>
            </a:extLst>
          </p:cNvPr>
          <p:cNvSpPr/>
          <p:nvPr/>
        </p:nvSpPr>
        <p:spPr>
          <a:xfrm>
            <a:off x="195163" y="3291110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1AF7E7-669A-B925-F70C-6C39A6A7D097}"/>
              </a:ext>
            </a:extLst>
          </p:cNvPr>
          <p:cNvSpPr txBox="1"/>
          <p:nvPr/>
        </p:nvSpPr>
        <p:spPr>
          <a:xfrm>
            <a:off x="175419" y="327474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30964-5A4D-6FD6-01D2-BE366F67A48E}"/>
              </a:ext>
            </a:extLst>
          </p:cNvPr>
          <p:cNvSpPr txBox="1"/>
          <p:nvPr/>
        </p:nvSpPr>
        <p:spPr>
          <a:xfrm>
            <a:off x="117572" y="3582518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Department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9EE3211-E889-296C-6287-BA021B4B5BE8}"/>
              </a:ext>
            </a:extLst>
          </p:cNvPr>
          <p:cNvSpPr/>
          <p:nvPr/>
        </p:nvSpPr>
        <p:spPr>
          <a:xfrm>
            <a:off x="211135" y="3890295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90681F-832B-F6A9-F637-79EBC248F8C2}"/>
              </a:ext>
            </a:extLst>
          </p:cNvPr>
          <p:cNvSpPr txBox="1"/>
          <p:nvPr/>
        </p:nvSpPr>
        <p:spPr>
          <a:xfrm>
            <a:off x="191391" y="3873926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6A3B06-1FFC-D4CD-C9FB-812C58C311F1}"/>
              </a:ext>
            </a:extLst>
          </p:cNvPr>
          <p:cNvSpPr txBox="1"/>
          <p:nvPr/>
        </p:nvSpPr>
        <p:spPr>
          <a:xfrm>
            <a:off x="117572" y="4185451"/>
            <a:ext cx="1304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State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400BCCA-C561-7747-E449-B778F373157C}"/>
              </a:ext>
            </a:extLst>
          </p:cNvPr>
          <p:cNvSpPr/>
          <p:nvPr/>
        </p:nvSpPr>
        <p:spPr>
          <a:xfrm>
            <a:off x="211135" y="4493228"/>
            <a:ext cx="1251146" cy="2442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88FCF3-39BE-A67C-ACE6-D480E9081037}"/>
              </a:ext>
            </a:extLst>
          </p:cNvPr>
          <p:cNvSpPr txBox="1"/>
          <p:nvPr/>
        </p:nvSpPr>
        <p:spPr>
          <a:xfrm>
            <a:off x="191391" y="4476859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All                       ⏷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613E79-CDCE-05CA-9C86-B5883AF43E59}"/>
              </a:ext>
            </a:extLst>
          </p:cNvPr>
          <p:cNvSpPr txBox="1"/>
          <p:nvPr/>
        </p:nvSpPr>
        <p:spPr>
          <a:xfrm>
            <a:off x="202843" y="5105709"/>
            <a:ext cx="1267729" cy="377904"/>
          </a:xfrm>
          <a:prstGeom prst="roundRect">
            <a:avLst>
              <a:gd name="adj" fmla="val 12005"/>
            </a:avLst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Clear Filters</a:t>
            </a:r>
            <a:endParaRPr lang="en-IN" sz="1700" b="1" dirty="0">
              <a:solidFill>
                <a:schemeClr val="bg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527E2BE-3B10-6AC1-4305-A233D8434F1A}"/>
              </a:ext>
            </a:extLst>
          </p:cNvPr>
          <p:cNvSpPr/>
          <p:nvPr/>
        </p:nvSpPr>
        <p:spPr>
          <a:xfrm>
            <a:off x="1777492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F3FBF6A-A1F8-11C9-2A67-0D49E19F9C86}"/>
              </a:ext>
            </a:extLst>
          </p:cNvPr>
          <p:cNvSpPr/>
          <p:nvPr/>
        </p:nvSpPr>
        <p:spPr>
          <a:xfrm>
            <a:off x="3505637" y="1047347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17CE7B4-1671-F690-A993-4CD9044E870D}"/>
              </a:ext>
            </a:extLst>
          </p:cNvPr>
          <p:cNvSpPr/>
          <p:nvPr/>
        </p:nvSpPr>
        <p:spPr>
          <a:xfrm>
            <a:off x="5233782" y="1034052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0D71CA4-BB9C-8F79-F869-82D11C745399}"/>
              </a:ext>
            </a:extLst>
          </p:cNvPr>
          <p:cNvSpPr/>
          <p:nvPr/>
        </p:nvSpPr>
        <p:spPr>
          <a:xfrm>
            <a:off x="6958219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2A246AB-714A-4443-89DC-D50E94A62DEB}"/>
              </a:ext>
            </a:extLst>
          </p:cNvPr>
          <p:cNvSpPr/>
          <p:nvPr/>
        </p:nvSpPr>
        <p:spPr>
          <a:xfrm>
            <a:off x="8686364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29242EE-0106-46FE-B645-289BE5B2AB13}"/>
              </a:ext>
            </a:extLst>
          </p:cNvPr>
          <p:cNvSpPr/>
          <p:nvPr/>
        </p:nvSpPr>
        <p:spPr>
          <a:xfrm>
            <a:off x="10388382" y="1036481"/>
            <a:ext cx="1533844" cy="8229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BFB477-81E2-C8A0-D8B4-67021034D819}"/>
              </a:ext>
            </a:extLst>
          </p:cNvPr>
          <p:cNvSpPr txBox="1"/>
          <p:nvPr/>
        </p:nvSpPr>
        <p:spPr>
          <a:xfrm>
            <a:off x="1792495" y="1006198"/>
            <a:ext cx="1507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Total Beds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0A15BB-AAF8-C532-68DC-18FF4F5D901F}"/>
              </a:ext>
            </a:extLst>
          </p:cNvPr>
          <p:cNvSpPr txBox="1"/>
          <p:nvPr/>
        </p:nvSpPr>
        <p:spPr>
          <a:xfrm>
            <a:off x="10341110" y="1015724"/>
            <a:ext cx="1665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Equipment Types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A39116-C993-F26D-CE27-752E5AED7E73}"/>
              </a:ext>
            </a:extLst>
          </p:cNvPr>
          <p:cNvSpPr txBox="1"/>
          <p:nvPr/>
        </p:nvSpPr>
        <p:spPr>
          <a:xfrm>
            <a:off x="8682656" y="1026663"/>
            <a:ext cx="1533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Beds Available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AF2B99-DC57-491E-F94B-F2B3A58BA2D8}"/>
              </a:ext>
            </a:extLst>
          </p:cNvPr>
          <p:cNvSpPr txBox="1"/>
          <p:nvPr/>
        </p:nvSpPr>
        <p:spPr>
          <a:xfrm>
            <a:off x="6918436" y="1025782"/>
            <a:ext cx="1625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ICU Utilization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531A4B-D613-D501-4DAD-F82F0E160D2D}"/>
              </a:ext>
            </a:extLst>
          </p:cNvPr>
          <p:cNvSpPr txBox="1"/>
          <p:nvPr/>
        </p:nvSpPr>
        <p:spPr>
          <a:xfrm>
            <a:off x="5095177" y="1025782"/>
            <a:ext cx="1808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Bed Utilization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23B003E-1994-28A2-CE9A-3E34FF59922E}"/>
              </a:ext>
            </a:extLst>
          </p:cNvPr>
          <p:cNvSpPr txBox="1"/>
          <p:nvPr/>
        </p:nvSpPr>
        <p:spPr>
          <a:xfrm>
            <a:off x="3490805" y="1015724"/>
            <a:ext cx="1589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ICU Beds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E65C684-0B0E-9EB9-F4F8-B50C91A5B25B}"/>
              </a:ext>
            </a:extLst>
          </p:cNvPr>
          <p:cNvCxnSpPr>
            <a:cxnSpLocks/>
          </p:cNvCxnSpPr>
          <p:nvPr/>
        </p:nvCxnSpPr>
        <p:spPr>
          <a:xfrm>
            <a:off x="11390626" y="784638"/>
            <a:ext cx="653753" cy="16161"/>
          </a:xfrm>
          <a:prstGeom prst="line">
            <a:avLst/>
          </a:prstGeom>
          <a:ln w="38100">
            <a:solidFill>
              <a:srgbClr val="9DC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02F1BBD-12AB-5AFE-C2BC-B05B066BED06}"/>
              </a:ext>
            </a:extLst>
          </p:cNvPr>
          <p:cNvSpPr/>
          <p:nvPr/>
        </p:nvSpPr>
        <p:spPr>
          <a:xfrm>
            <a:off x="1777492" y="2047134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1BF3BB7-92E3-BA74-C678-A5362D88A205}"/>
              </a:ext>
            </a:extLst>
          </p:cNvPr>
          <p:cNvSpPr/>
          <p:nvPr/>
        </p:nvSpPr>
        <p:spPr>
          <a:xfrm>
            <a:off x="5233783" y="2008204"/>
            <a:ext cx="3272684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9E591EF-8EDB-8961-DA50-18AFFE52E648}"/>
              </a:ext>
            </a:extLst>
          </p:cNvPr>
          <p:cNvSpPr/>
          <p:nvPr/>
        </p:nvSpPr>
        <p:spPr>
          <a:xfrm>
            <a:off x="1777492" y="4375621"/>
            <a:ext cx="5053083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56527FB-46B2-4A33-1864-B41B69B6F1D8}"/>
              </a:ext>
            </a:extLst>
          </p:cNvPr>
          <p:cNvSpPr/>
          <p:nvPr/>
        </p:nvSpPr>
        <p:spPr>
          <a:xfrm>
            <a:off x="6958218" y="4391765"/>
            <a:ext cx="500453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F25451-B1A3-300B-7CF7-00897F56BB64}"/>
              </a:ext>
            </a:extLst>
          </p:cNvPr>
          <p:cNvSpPr txBox="1"/>
          <p:nvPr/>
        </p:nvSpPr>
        <p:spPr>
          <a:xfrm>
            <a:off x="2013238" y="2008204"/>
            <a:ext cx="2790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Bed Utilization by Hospital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(Horizontal Bar Chart)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836D83D-1D20-5060-A341-26A160887C7A}"/>
              </a:ext>
            </a:extLst>
          </p:cNvPr>
          <p:cNvSpPr txBox="1"/>
          <p:nvPr/>
        </p:nvSpPr>
        <p:spPr>
          <a:xfrm>
            <a:off x="5233782" y="2013281"/>
            <a:ext cx="3258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ICU Utilization Trend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(Area Chart)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9E6792-0F9C-7B0E-ADA3-10579B93993F}"/>
              </a:ext>
            </a:extLst>
          </p:cNvPr>
          <p:cNvSpPr txBox="1"/>
          <p:nvPr/>
        </p:nvSpPr>
        <p:spPr>
          <a:xfrm>
            <a:off x="1792496" y="4339339"/>
            <a:ext cx="503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Staffing Heatmap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(Department vs Shift)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57BBD7-C815-0899-08C5-B163058D0E34}"/>
              </a:ext>
            </a:extLst>
          </p:cNvPr>
          <p:cNvSpPr txBox="1"/>
          <p:nvPr/>
        </p:nvSpPr>
        <p:spPr>
          <a:xfrm>
            <a:off x="8134129" y="4355245"/>
            <a:ext cx="2652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Equipment Distribution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(Bar chart)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8CE410-3166-3C1B-E893-0A2BD0F771F4}"/>
              </a:ext>
            </a:extLst>
          </p:cNvPr>
          <p:cNvSpPr txBox="1"/>
          <p:nvPr/>
        </p:nvSpPr>
        <p:spPr>
          <a:xfrm>
            <a:off x="8682656" y="1974413"/>
            <a:ext cx="3287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Bed vs ICU Beds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(Stacked / Clustered Bar Chart)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C813CE6C-75FE-BADD-82ED-CA7716338988}"/>
              </a:ext>
            </a:extLst>
          </p:cNvPr>
          <p:cNvSpPr/>
          <p:nvPr/>
        </p:nvSpPr>
        <p:spPr>
          <a:xfrm>
            <a:off x="8700769" y="2022300"/>
            <a:ext cx="3261989" cy="2138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" name="Picture 102" descr="Single bed ">
            <a:extLst>
              <a:ext uri="{FF2B5EF4-FFF2-40B4-BE49-F238E27FC236}">
                <a16:creationId xmlns:a16="http://schemas.microsoft.com/office/drawing/2014/main" id="{A685B88C-1ABE-7E01-0C95-DA8F2C42A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059" y="1444023"/>
            <a:ext cx="329114" cy="329114"/>
          </a:xfrm>
          <a:prstGeom prst="rect">
            <a:avLst/>
          </a:prstGeom>
        </p:spPr>
      </p:pic>
      <p:pic>
        <p:nvPicPr>
          <p:cNvPr id="104" name="Picture 103" descr="Hospitalization ">
            <a:extLst>
              <a:ext uri="{FF2B5EF4-FFF2-40B4-BE49-F238E27FC236}">
                <a16:creationId xmlns:a16="http://schemas.microsoft.com/office/drawing/2014/main" id="{51D11AC7-E0AE-98EE-0ABB-736BCDCAD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880" y="1443238"/>
            <a:ext cx="334562" cy="334562"/>
          </a:xfrm>
          <a:prstGeom prst="rect">
            <a:avLst/>
          </a:prstGeom>
        </p:spPr>
      </p:pic>
      <p:pic>
        <p:nvPicPr>
          <p:cNvPr id="106" name="Picture 105" descr="Single bed ">
            <a:extLst>
              <a:ext uri="{FF2B5EF4-FFF2-40B4-BE49-F238E27FC236}">
                <a16:creationId xmlns:a16="http://schemas.microsoft.com/office/drawing/2014/main" id="{B724C19F-6778-0ED4-892F-7E47B7D52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7989" y="1460857"/>
            <a:ext cx="329114" cy="329114"/>
          </a:xfrm>
          <a:prstGeom prst="rect">
            <a:avLst/>
          </a:prstGeom>
        </p:spPr>
      </p:pic>
      <p:pic>
        <p:nvPicPr>
          <p:cNvPr id="108" name="Picture 107" descr="Settings ">
            <a:extLst>
              <a:ext uri="{FF2B5EF4-FFF2-40B4-BE49-F238E27FC236}">
                <a16:creationId xmlns:a16="http://schemas.microsoft.com/office/drawing/2014/main" id="{6B5905DC-DC3A-621B-7BD4-64F3FD131A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7730" y="1461655"/>
            <a:ext cx="329114" cy="329114"/>
          </a:xfrm>
          <a:prstGeom prst="rect">
            <a:avLst/>
          </a:prstGeom>
        </p:spPr>
      </p:pic>
      <p:pic>
        <p:nvPicPr>
          <p:cNvPr id="109" name="Picture 108" descr="Bar chart ">
            <a:extLst>
              <a:ext uri="{FF2B5EF4-FFF2-40B4-BE49-F238E27FC236}">
                <a16:creationId xmlns:a16="http://schemas.microsoft.com/office/drawing/2014/main" id="{CD101D16-BB18-987F-7C69-C0F4A05990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8623" y="1462326"/>
            <a:ext cx="327877" cy="327877"/>
          </a:xfrm>
          <a:prstGeom prst="rect">
            <a:avLst/>
          </a:prstGeom>
        </p:spPr>
      </p:pic>
      <p:pic>
        <p:nvPicPr>
          <p:cNvPr id="111" name="Picture 110" descr="Heart rate ">
            <a:extLst>
              <a:ext uri="{FF2B5EF4-FFF2-40B4-BE49-F238E27FC236}">
                <a16:creationId xmlns:a16="http://schemas.microsoft.com/office/drawing/2014/main" id="{059908B0-521B-1D12-68D6-82BD48F6FC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4208" y="1444032"/>
            <a:ext cx="333070" cy="3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41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361</Words>
  <Application>Microsoft Office PowerPoint</Application>
  <PresentationFormat>Widescreen</PresentationFormat>
  <Paragraphs>145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Hariharan A</dc:creator>
  <cp:lastModifiedBy>Hariharan A</cp:lastModifiedBy>
  <cp:revision>3</cp:revision>
  <dcterms:created xsi:type="dcterms:W3CDTF">2026-07-23T17:49:33Z</dcterms:created>
  <dcterms:modified xsi:type="dcterms:W3CDTF">2026-07-23T22:13:08Z</dcterms:modified>
</cp:coreProperties>
</file>